
<file path=[Content_Types].xml><?xml version="1.0" encoding="utf-8"?>
<Types xmlns="http://schemas.openxmlformats.org/package/2006/content-types">
  <Default Extension="bin" ContentType="application/vnd.openxmlformats-officedocument.oleObject"/>
  <Default Extension="docx" ContentType="application/vnd.openxmlformats-officedocument.wordprocessingml.documen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  <p:sldMasterId id="2147483660" r:id="rId2"/>
  </p:sldMasterIdLst>
  <p:notesMasterIdLst>
    <p:notesMasterId r:id="rId24"/>
  </p:notesMasterIdLst>
  <p:handoutMasterIdLst>
    <p:handoutMasterId r:id="rId25"/>
  </p:handoutMasterIdLst>
  <p:sldIdLst>
    <p:sldId id="258" r:id="rId3"/>
    <p:sldId id="257" r:id="rId4"/>
    <p:sldId id="259" r:id="rId5"/>
    <p:sldId id="260" r:id="rId6"/>
    <p:sldId id="261" r:id="rId7"/>
    <p:sldId id="263" r:id="rId8"/>
    <p:sldId id="264" r:id="rId9"/>
    <p:sldId id="262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3" r:id="rId18"/>
    <p:sldId id="274" r:id="rId19"/>
    <p:sldId id="275" r:id="rId20"/>
    <p:sldId id="278" r:id="rId21"/>
    <p:sldId id="279" r:id="rId22"/>
    <p:sldId id="276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/>
    <p:restoredTop sz="94628"/>
  </p:normalViewPr>
  <p:slideViewPr>
    <p:cSldViewPr snapToGrid="0">
      <p:cViewPr>
        <p:scale>
          <a:sx n="103" d="100"/>
          <a:sy n="103" d="100"/>
        </p:scale>
        <p:origin x="992" y="3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455ECB4-2DB5-3AF0-719E-B4BF0DECC35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A2822B-D88A-8790-B2C2-4BCA690E044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C78C13-FD10-4741-B03A-8310E7C0A248}" type="datetimeFigureOut">
              <a:rPr lang="en-US" smtClean="0"/>
              <a:t>3/6/26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52EC39-2792-4CEE-5CAA-DD4D30AEF54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C3B48D-BFBF-4F27-272A-33F391E66FB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BE9FA3-A276-5B43-98E9-59A9D76615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834253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769AE6-B952-C04F-964A-7CFE6B04DBE5}" type="datetimeFigureOut">
              <a:rPr lang="en-US" smtClean="0"/>
              <a:t>3/6/26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205812-A900-5A48-9019-6A4EF8D739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83116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877F6-AAEC-637F-243C-2B5B2A9A4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E7831A-3A92-2F8C-F851-AFE6D841F8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81ABDC-AEE1-6717-D46C-3D3D1ED81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B93F1-85B1-694F-AAEF-2856CCFE41E1}" type="datetime1">
              <a:rPr lang="en-US" smtClean="0"/>
              <a:t>3/6/26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53DCE6-18FC-D89F-3030-59CC8C02A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A92880-E809-6AE6-86E8-C0CAAB3BE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30CB0-8544-6B47-BD4E-136CA3109F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9002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D9630-EDB5-1CDF-7341-AC5FFCDA7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153939-4C9F-85FA-79CE-2E9ECA3E04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A235B7-FBED-1D9B-8614-2634066A1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CE065-34C1-394B-B623-4989BA7717F5}" type="datetime1">
              <a:rPr lang="en-US" smtClean="0"/>
              <a:t>3/6/26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D4C798-694D-CE88-A850-14DAEE640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533A29-D321-3720-2C67-4AB36CB02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6A91C1-B24F-5746-B00B-48233BB1A4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08570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EA905-B1FB-13B5-75DA-7076A7316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22507E-D529-7AA6-F80F-DE84E51390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51447A-B41E-2C0B-1820-A3139304B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1F000-37E2-FB41-96AE-611CC40A8105}" type="datetime1">
              <a:rPr lang="en-US" smtClean="0"/>
              <a:t>3/6/26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773213-2C10-DCB5-6FD4-458ACEDA6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2A3D68-5083-CAD4-A18F-A94932624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30CB0-8544-6B47-BD4E-136CA3109F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68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92A6F-80F5-C985-DCB7-1363B12D5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A46FF7-04FF-213C-EA7E-2A349EDD15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49FD6C-11EC-C987-3D79-EB395C6723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200589-959A-AE73-74A5-2B2447EF6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C2A13-4A78-7942-835C-B5E2127F11CB}" type="datetime1">
              <a:rPr lang="en-US" smtClean="0"/>
              <a:t>3/6/26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508A21-7D1D-75A6-B316-C825E23D4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E5664B-1062-1D48-1E9A-4BC56361E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30CB0-8544-6B47-BD4E-136CA3109F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5568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978B7A-154E-9676-D1B2-DC7863210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56053F-1B33-FA71-C681-7E1A22CCA7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16D99B-A763-DBED-53D4-9AA4960899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899B82-3679-30B2-59DF-F838BB5183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8FBB8F5-C1F6-A23E-0CD9-03C78179C8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4A25C5-87C3-BA4E-7BD0-411809923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1583C-00B1-7440-95BB-D1C73BAC9B96}" type="datetime1">
              <a:rPr lang="en-US" smtClean="0"/>
              <a:t>3/6/26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506D74-2516-5087-A3F2-3F0DDEC02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CAD021-71DB-42A4-4A87-8B386BC52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30CB0-8544-6B47-BD4E-136CA3109F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704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D84BD-097E-1634-B669-246EF35DC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127" y="201901"/>
            <a:ext cx="10515600" cy="75550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449B0E7A-8D41-B7E5-E7D6-F8E6ACDB05FE}"/>
              </a:ext>
            </a:extLst>
          </p:cNvPr>
          <p:cNvSpPr txBox="1">
            <a:spLocks/>
          </p:cNvSpPr>
          <p:nvPr userDrawn="1"/>
        </p:nvSpPr>
        <p:spPr>
          <a:xfrm>
            <a:off x="464127" y="6391562"/>
            <a:ext cx="28817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b="1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CEE 533, Structural Health Monitoring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FB0215CA-B1B6-82DD-895C-83AB22BC4946}"/>
              </a:ext>
            </a:extLst>
          </p:cNvPr>
          <p:cNvSpPr txBox="1">
            <a:spLocks/>
          </p:cNvSpPr>
          <p:nvPr userDrawn="1"/>
        </p:nvSpPr>
        <p:spPr>
          <a:xfrm>
            <a:off x="4357257" y="6391563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b="1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Esmaeil Ghorbani, Ph.D., P.Eng.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2B089B0-73DA-B5C8-E80F-13A4BA23AC9C}"/>
              </a:ext>
            </a:extLst>
          </p:cNvPr>
          <p:cNvSpPr txBox="1">
            <a:spLocks/>
          </p:cNvSpPr>
          <p:nvPr userDrawn="1"/>
        </p:nvSpPr>
        <p:spPr>
          <a:xfrm>
            <a:off x="8742218" y="63915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C6A91C1-B24F-5746-B00B-48233BB1A4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EF0D1ECD-8F5C-F206-B260-2B156C21DDD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2pPr>
              <a:buClr>
                <a:schemeClr val="accent2">
                  <a:lumMod val="75000"/>
                </a:schemeClr>
              </a:buClr>
              <a:defRPr/>
            </a:lvl2pPr>
            <a:lvl3pPr>
              <a:buClr>
                <a:schemeClr val="accent2">
                  <a:lumMod val="75000"/>
                </a:schemeClr>
              </a:buClr>
              <a:defRPr/>
            </a:lvl3pPr>
            <a:lvl4pPr>
              <a:buClr>
                <a:schemeClr val="accent2">
                  <a:lumMod val="75000"/>
                </a:schemeClr>
              </a:buClr>
              <a:defRPr/>
            </a:lvl4pPr>
            <a:lvl5pPr>
              <a:buClr>
                <a:schemeClr val="accent2">
                  <a:lumMod val="75000"/>
                </a:schemeClr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190761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752BCAF-87BE-5AC4-4833-4ADB3564E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0311A-0440-BE47-95C1-9783A2F67938}" type="datetime1">
              <a:rPr lang="en-US" smtClean="0"/>
              <a:t>3/6/26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2D6F55-A35D-D903-411A-8B4B4B5A9C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793895-4612-EB87-6C18-6D177513E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30CB0-8544-6B47-BD4E-136CA3109F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7714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F58E8-152D-63C5-FD0B-102EF18EA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C33C21-0117-7C9B-7614-B2DA359372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69E39-4295-A5B6-F7A6-2C5704A5A5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E3F34A-0E5C-32FA-CE8E-BC41FC5E7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665AE-D34A-3849-81AC-A05CEB49B20A}" type="datetime1">
              <a:rPr lang="en-US" smtClean="0"/>
              <a:t>3/6/26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54A0CA-70A3-DFDD-DB56-BB9CFA988A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E195AA-1838-954F-AD31-E93590B8D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30CB0-8544-6B47-BD4E-136CA3109F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7275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5A0BA-80CE-672C-6951-7B2D97BF47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D12847-0F5D-8C00-B3C9-5990BF8B61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D556FD-4394-5E11-E277-4077CE3017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2C3FDE-F429-E2D0-7403-CAB1B3A95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C4BE2-B5B9-3142-9817-AB83A320DE6B}" type="datetime1">
              <a:rPr lang="en-US" smtClean="0"/>
              <a:t>3/6/26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F11D38-F2C1-C46F-086A-286FC4924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5DF033-DC0A-9E4A-567E-D882F44F1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30CB0-8544-6B47-BD4E-136CA3109F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8245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B7CB6-4A3B-2EDF-6EA1-64F9D54D9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D9A0AF-A3A7-E145-A2FA-D60A2414A8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9FD87A-96D6-9D16-9E77-95AA5EC44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1194DF-FD1F-BA4B-BDFA-E896B9C9BDF1}" type="datetime1">
              <a:rPr lang="en-US" smtClean="0"/>
              <a:t>3/6/26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E4AA3F-E425-145A-5C6D-332C7E127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CA80E1-F8C1-C210-10D0-A8A700CBB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30CB0-8544-6B47-BD4E-136CA3109F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9404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4DE62D1-4A47-491F-7662-17AB6B27DE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2279AA-2298-1BF9-060B-5CED7B6F4B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67D53E-C04E-5E65-1978-E48ABB7C7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28E5D-D0DA-4F44-950A-0B6E89883C6A}" type="datetime1">
              <a:rPr lang="en-US" smtClean="0"/>
              <a:t>3/6/26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D0076E-4219-35B0-FCDA-123BB6BBF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EF65B7-60E1-4073-3576-442450368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30CB0-8544-6B47-BD4E-136CA3109F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0509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85FEB-DD12-E74D-D49E-056FCCE9FD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836EB4-E5A6-A6B6-73A7-BEE74D95F8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F1CC95-FAE3-39B5-1BAC-ED8668F74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1A437-EF8A-194F-A4E6-F49DBDD6322E}" type="datetime1">
              <a:rPr lang="en-US" smtClean="0"/>
              <a:t>3/6/26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A406A1-F9EA-A186-AA57-18BEC6119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03C6A3-F63E-45F0-2B7E-DC2BC719C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C0F4F-8BD4-184E-97B6-D19E74F32F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5683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A58E1-E63F-707B-AC6D-78CF06F46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1774C7-8694-9251-4C76-A6D3654F42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5C2B30-DF7C-7E1F-8FC6-1AE0DD514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12FE7-715F-4140-ADE2-62D8D16D3972}" type="datetime1">
              <a:rPr lang="en-US" smtClean="0"/>
              <a:t>3/6/26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B90831-BBC9-7C10-A5FE-ECAAEE928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BFF5F2-C08C-D727-8460-8D7111309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C0F4F-8BD4-184E-97B6-D19E74F32F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5603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57B5B-43D2-8C8B-5A29-5EE07A6BE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9ACC14-BFCB-566B-BE1A-609E0ACB7E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3FAF7C-933C-8365-8EF2-21A115669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08143-6641-0943-9484-34A8C7E7D4E9}" type="datetime1">
              <a:rPr lang="en-US" smtClean="0"/>
              <a:t>3/6/26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739E71-0301-D569-8B83-D84B29045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0E6837-0982-9CDD-B5D0-6C501B0B0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C0F4F-8BD4-184E-97B6-D19E74F32F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8689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F5455-F445-DEBD-8B30-8CD5D8858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83C01-9832-602A-8E61-8276703D9A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32218F-FF3A-9163-FB54-6A382046F7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E03B1C-58EE-9187-A8D0-2DFFC80A1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FE719-C6A2-3245-8EFB-15350FEFC51C}" type="datetime1">
              <a:rPr lang="en-US" smtClean="0"/>
              <a:t>3/6/26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EC479A-66ED-F7E8-E0F8-088F87E5D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FA9AE9-C3D3-885C-BF8A-DC1882307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C0F4F-8BD4-184E-97B6-D19E74F32F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1431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85C41-9154-20CD-592A-8CCE59D9E3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193104-E99B-F04F-9ACE-1A0148FF1B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4D3191-52D3-C6EA-5261-BFDD3C731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6BA408-E23E-D593-D51A-9390AFEBFC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E4A685-E30B-7004-A9A5-37316E134B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ADB1DE-B7BC-0DEA-0EF9-5D491FE46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FADF5-3084-3B4D-BE48-CD1AD7FFBDD6}" type="datetime1">
              <a:rPr lang="en-US" smtClean="0"/>
              <a:t>3/6/26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F25B4BE-81E4-49E6-1E2B-CD91CF532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1234E06-A8A0-8740-AA15-4D43A62BF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C0F4F-8BD4-184E-97B6-D19E74F32F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41116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A204D-7688-7C02-6F0F-E2BAE9025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CC802B-98E3-F1B8-C181-D4894B0F43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19C63-B427-4645-8C25-0C41EC56A866}" type="datetime1">
              <a:rPr lang="en-US" smtClean="0"/>
              <a:t>3/6/26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DE52FC-EE15-1994-735F-2A8694113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DBCAA0-8532-476D-918F-6AA171440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C0F4F-8BD4-184E-97B6-D19E74F32F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6188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B6A9B9-66C2-9992-FF12-87C60C57E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E6D4A-4211-B54A-A7B4-5466E2120865}" type="datetime1">
              <a:rPr lang="en-US" smtClean="0"/>
              <a:t>3/6/26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EB12B3-DA53-732A-6A5D-D7543520D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94DFCF-4C10-5257-9B94-94BBD96B6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C0F4F-8BD4-184E-97B6-D19E74F32F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40114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D87DC-C3AA-8EB8-2773-526B375EA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386F51-5D72-EA2E-382F-CED4FFD734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075695-57BB-E1CE-51A8-3B35C26AC4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7D4701-264F-9656-6FD0-45AFC0892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499E8-B3A4-BF45-AB17-21B4FC8AB598}" type="datetime1">
              <a:rPr lang="en-US" smtClean="0"/>
              <a:t>3/6/26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DAC8D7-B793-05F4-59C0-AFF585CD0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8B1650-153D-92EB-6263-3DFAB4B7B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C0F4F-8BD4-184E-97B6-D19E74F32F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80687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640C8-72CC-57A9-A683-FE78DDCE7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327CF2A-DDB9-A137-E628-405BA002A3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EC21B2-F594-CD97-426B-CBE2E99974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598B00-79F1-1290-F592-D6C865616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CB892-15F7-3642-8C91-6650391FEF37}" type="datetime1">
              <a:rPr lang="en-US" smtClean="0"/>
              <a:t>3/6/26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F9EB0F-5239-258E-F615-EB7DDFF36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FCDC13-210D-5558-1FCA-E17220EAE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C0F4F-8BD4-184E-97B6-D19E74F32F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582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1B2E1-7869-B4E7-876F-756EFDDE0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00BAA3-C09E-1D30-EEC7-B3A3718C3E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D5832E-ABE5-703C-A002-594B06989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5171F-4CF4-F046-8B1F-51777D09CC94}" type="datetime1">
              <a:rPr lang="en-US" smtClean="0"/>
              <a:t>3/6/26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B57E56-5F3B-FC94-425F-E0C79CB74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EAF5E2-268F-6DE6-710E-4515BE090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C0F4F-8BD4-184E-97B6-D19E74F32F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83393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DA24D57-4B12-12C8-78E2-9832C3F16E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D783CD-3D8A-F499-2A40-12471F6BF7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53577C-9E6A-33D6-E4A1-607EAC78D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79DB2-D37B-E943-BA44-9A30D16D2D5F}" type="datetime1">
              <a:rPr lang="en-US" smtClean="0"/>
              <a:t>3/6/26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D5A823-38B4-AB84-2201-BEDC08292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2B9159-6182-65FA-A91B-0AF483C94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C0F4F-8BD4-184E-97B6-D19E74F32F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2941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9319168-98A3-A10F-FA11-A2C17EF9AA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2BC73B-5D5A-D16B-8A21-FEE38B7043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C320EF-ABBB-DA3C-CEDC-26C237D6A1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199" y="6356350"/>
            <a:ext cx="28817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0AAB68-8898-1445-99AB-9A178EFF679A}" type="datetime1">
              <a:rPr lang="en-US" b="1" smtClean="0"/>
              <a:t>3/6/26</a:t>
            </a:fld>
            <a:endParaRPr lang="en-US" b="1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92758C-6C72-AB5D-D157-97DE00A022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b="1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DDDD90-2407-E1A7-0ADB-E7E9CD0799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030CB0-8544-6B47-BD4E-136CA3109FFA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Picture 7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2206CE55-D8CA-C264-D7EC-F05786873430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rcRect t="20744" b="27672"/>
          <a:stretch>
            <a:fillRect/>
          </a:stretch>
        </p:blipFill>
        <p:spPr>
          <a:xfrm>
            <a:off x="10023480" y="94961"/>
            <a:ext cx="2028819" cy="586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766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8F3284-2DC0-AB2B-7526-BA586B092B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2904D4-4013-3814-409B-71465E99C3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D4E048-A253-2CF1-A320-D741846213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4B9870-F6DB-4D41-B7E9-FE9E77136F8C}" type="datetime1">
              <a:rPr lang="en-US" smtClean="0"/>
              <a:t>3/6/26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A3EE6B-5E0C-52F0-0124-CAB263C0F7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2D155B-47A1-097E-AE58-4D9AEEF99A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EC0F4F-8BD4-184E-97B6-D19E74F32F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5293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4.wmf"/><Relationship Id="rId4" Type="http://schemas.openxmlformats.org/officeDocument/2006/relationships/oleObject" Target="../embeddings/oleObject1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slideLayout" Target="../slideLayouts/slideLayout6.xml"/><Relationship Id="rId1" Type="http://schemas.openxmlformats.org/officeDocument/2006/relationships/video" Target="https://www.youtube.com/embed/pEDt11u1c-g?feature=oembed" TargetMode="Externa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4.png"/><Relationship Id="rId18" Type="http://schemas.openxmlformats.org/officeDocument/2006/relationships/image" Target="../media/image820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3.png"/><Relationship Id="rId17" Type="http://schemas.openxmlformats.org/officeDocument/2006/relationships/image" Target="../media/image811.png"/><Relationship Id="rId2" Type="http://schemas.openxmlformats.org/officeDocument/2006/relationships/image" Target="../media/image16.png"/><Relationship Id="rId16" Type="http://schemas.openxmlformats.org/officeDocument/2006/relationships/image" Target="../media/image800.png"/><Relationship Id="rId20" Type="http://schemas.openxmlformats.org/officeDocument/2006/relationships/image" Target="../media/image87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0.png"/><Relationship Id="rId11" Type="http://schemas.openxmlformats.org/officeDocument/2006/relationships/image" Target="../media/image750.png"/><Relationship Id="rId5" Type="http://schemas.openxmlformats.org/officeDocument/2006/relationships/image" Target="../media/image19.png"/><Relationship Id="rId15" Type="http://schemas.openxmlformats.org/officeDocument/2006/relationships/image" Target="../media/image26.png"/><Relationship Id="rId10" Type="http://schemas.openxmlformats.org/officeDocument/2006/relationships/image" Target="../media/image740.png"/><Relationship Id="rId19" Type="http://schemas.openxmlformats.org/officeDocument/2006/relationships/image" Target="../media/image830.png"/><Relationship Id="rId4" Type="http://schemas.openxmlformats.org/officeDocument/2006/relationships/image" Target="../media/image18.png"/><Relationship Id="rId9" Type="http://schemas.openxmlformats.org/officeDocument/2006/relationships/image" Target="../media/image730.png"/><Relationship Id="rId1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package" Target="../embeddings/Microsoft_Word_Document.docx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12" Type="http://schemas.openxmlformats.org/officeDocument/2006/relationships/image" Target="../media/image37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1.png"/><Relationship Id="rId11" Type="http://schemas.openxmlformats.org/officeDocument/2006/relationships/image" Target="../media/image36.png"/><Relationship Id="rId5" Type="http://schemas.openxmlformats.org/officeDocument/2006/relationships/image" Target="../media/image30.png"/><Relationship Id="rId10" Type="http://schemas.openxmlformats.org/officeDocument/2006/relationships/image" Target="../media/image35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Relationship Id="rId14" Type="http://schemas.openxmlformats.org/officeDocument/2006/relationships/image" Target="../media/image38.e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eg"/><Relationship Id="rId2" Type="http://schemas.openxmlformats.org/officeDocument/2006/relationships/image" Target="../media/image51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5.jpeg"/><Relationship Id="rId5" Type="http://schemas.openxmlformats.org/officeDocument/2006/relationships/image" Target="../media/image54.jpeg"/><Relationship Id="rId4" Type="http://schemas.openxmlformats.org/officeDocument/2006/relationships/image" Target="../media/image53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F05ACD0-FF4A-4F8F-B5C5-6A4EBD0D1B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C9AFA28-B5ED-4346-9AF7-68A157F16C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5486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49AFC4-78F1-5B44-38D7-8B9CB11304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36010" y="2616999"/>
            <a:ext cx="5519976" cy="812001"/>
          </a:xfrm>
        </p:spPr>
        <p:txBody>
          <a:bodyPr anchor="b">
            <a:noAutofit/>
          </a:bodyPr>
          <a:lstStyle/>
          <a:p>
            <a:br>
              <a:rPr lang="en-US" sz="4400" dirty="0">
                <a:solidFill>
                  <a:srgbClr val="595959"/>
                </a:solidFill>
              </a:rPr>
            </a:br>
            <a:br>
              <a:rPr lang="en-US" sz="4400" dirty="0">
                <a:solidFill>
                  <a:srgbClr val="595959"/>
                </a:solidFill>
              </a:rPr>
            </a:br>
            <a:br>
              <a:rPr lang="en-US" sz="4400" dirty="0">
                <a:solidFill>
                  <a:srgbClr val="595959"/>
                </a:solidFill>
              </a:rPr>
            </a:br>
            <a:br>
              <a:rPr lang="en-US" sz="4400" dirty="0">
                <a:solidFill>
                  <a:srgbClr val="595959"/>
                </a:solidFill>
              </a:rPr>
            </a:br>
            <a:br>
              <a:rPr lang="en-US" sz="4400" dirty="0">
                <a:solidFill>
                  <a:srgbClr val="595959"/>
                </a:solidFill>
              </a:rPr>
            </a:br>
            <a:br>
              <a:rPr lang="en-US" sz="4400" dirty="0">
                <a:solidFill>
                  <a:srgbClr val="595959"/>
                </a:solidFill>
              </a:rPr>
            </a:br>
            <a:br>
              <a:rPr lang="en-US" sz="4400" dirty="0">
                <a:solidFill>
                  <a:srgbClr val="595959"/>
                </a:solidFill>
              </a:rPr>
            </a:br>
            <a:r>
              <a:rPr lang="en-US" sz="4400" dirty="0">
                <a:solidFill>
                  <a:srgbClr val="595959"/>
                </a:solidFill>
              </a:rPr>
              <a:t>Vibration-based SHM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EC3D91-8F23-EC2B-140C-D3EB4C5EF9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5314" y="3952532"/>
            <a:ext cx="4561369" cy="1416090"/>
          </a:xfrm>
        </p:spPr>
        <p:txBody>
          <a:bodyPr anchor="t">
            <a:normAutofit/>
          </a:bodyPr>
          <a:lstStyle/>
          <a:p>
            <a:r>
              <a:rPr lang="en-US" sz="2000" dirty="0">
                <a:solidFill>
                  <a:srgbClr val="595959"/>
                </a:solidFill>
              </a:rPr>
              <a:t>Esmaeil Ghorbani, Ph.D., P.Eng.</a:t>
            </a:r>
          </a:p>
          <a:p>
            <a:endParaRPr lang="en-US" sz="1400" dirty="0">
              <a:solidFill>
                <a:srgbClr val="595959"/>
              </a:solidFill>
            </a:endParaRPr>
          </a:p>
        </p:txBody>
      </p:sp>
      <p:pic>
        <p:nvPicPr>
          <p:cNvPr id="6" name="Picture 5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17FBC242-61DC-6C06-147B-0F4440B661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8941" y="284011"/>
            <a:ext cx="3304100" cy="1858555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4569A001-B1C3-051F-420F-3DD089CCE078}"/>
              </a:ext>
            </a:extLst>
          </p:cNvPr>
          <p:cNvSpPr txBox="1">
            <a:spLocks/>
          </p:cNvSpPr>
          <p:nvPr/>
        </p:nvSpPr>
        <p:spPr>
          <a:xfrm>
            <a:off x="2943445" y="1953841"/>
            <a:ext cx="6305109" cy="14160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solidFill>
                  <a:srgbClr val="595959"/>
                </a:solidFill>
              </a:rPr>
              <a:t>Department of Civil and Environmental Engineering</a:t>
            </a:r>
          </a:p>
          <a:p>
            <a:endParaRPr lang="en-US" sz="1400" dirty="0">
              <a:solidFill>
                <a:srgbClr val="59595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82264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AA6D8-FAD8-41AE-E229-F0A9E445C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2596" y="136525"/>
            <a:ext cx="10515600" cy="935270"/>
          </a:xfrm>
        </p:spPr>
        <p:txBody>
          <a:bodyPr/>
          <a:lstStyle/>
          <a:p>
            <a:r>
              <a:rPr lang="en-US" dirty="0"/>
              <a:t>Why do we need model-based SHM?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CFE311-70C7-BA7A-35B0-18D65F73340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12596" y="1411908"/>
            <a:ext cx="11313966" cy="4351338"/>
          </a:xfrm>
        </p:spPr>
        <p:txBody>
          <a:bodyPr>
            <a:normAutofit fontScale="70000" lnSpcReduction="20000"/>
          </a:bodyPr>
          <a:lstStyle/>
          <a:p>
            <a:pPr>
              <a:buClr>
                <a:schemeClr val="accent2">
                  <a:lumMod val="75000"/>
                </a:schemeClr>
              </a:buClr>
            </a:pPr>
            <a:r>
              <a:rPr lang="en-US" dirty="0"/>
              <a:t>SHM: The process of monitoring the conditions of and identifying damage in civil, mechanical, and aerospace engineering structures in order to evaluate the system’s remaining life span.</a:t>
            </a:r>
          </a:p>
          <a:p>
            <a:pPr>
              <a:buClr>
                <a:schemeClr val="accent2">
                  <a:lumMod val="75000"/>
                </a:schemeClr>
              </a:buClr>
            </a:pPr>
            <a:endParaRPr lang="en-US" dirty="0"/>
          </a:p>
          <a:p>
            <a:pPr>
              <a:buClr>
                <a:schemeClr val="accent2">
                  <a:lumMod val="75000"/>
                </a:schemeClr>
              </a:buClr>
            </a:pPr>
            <a:r>
              <a:rPr lang="en-US" dirty="0"/>
              <a:t>Every damage identification problem includes three steps:</a:t>
            </a:r>
          </a:p>
          <a:p>
            <a:pPr lvl="1">
              <a:buClr>
                <a:schemeClr val="accent2">
                  <a:lumMod val="75000"/>
                </a:schemeClr>
              </a:buClr>
            </a:pPr>
            <a:r>
              <a:rPr lang="en-US" dirty="0"/>
              <a:t>damage detection</a:t>
            </a:r>
          </a:p>
          <a:p>
            <a:pPr lvl="1">
              <a:buClr>
                <a:schemeClr val="accent2">
                  <a:lumMod val="75000"/>
                </a:schemeClr>
              </a:buClr>
            </a:pPr>
            <a:r>
              <a:rPr lang="en-US" dirty="0"/>
              <a:t>damage localization</a:t>
            </a:r>
          </a:p>
          <a:p>
            <a:pPr lvl="1">
              <a:buClr>
                <a:schemeClr val="accent2">
                  <a:lumMod val="75000"/>
                </a:schemeClr>
              </a:buClr>
            </a:pPr>
            <a:r>
              <a:rPr lang="en-US" dirty="0"/>
              <a:t>damage quantification</a:t>
            </a:r>
          </a:p>
          <a:p>
            <a:pPr lvl="1">
              <a:buClr>
                <a:schemeClr val="accent2">
                  <a:lumMod val="75000"/>
                </a:schemeClr>
              </a:buClr>
            </a:pPr>
            <a:endParaRPr lang="en-US" dirty="0"/>
          </a:p>
          <a:p>
            <a:pPr>
              <a:buClr>
                <a:schemeClr val="accent2">
                  <a:lumMod val="75000"/>
                </a:schemeClr>
              </a:buClr>
            </a:pPr>
            <a:r>
              <a:rPr lang="en-US" dirty="0"/>
              <a:t>The model-free methods are able to detect the damage and hardly localize the damage.</a:t>
            </a:r>
          </a:p>
          <a:p>
            <a:pPr>
              <a:buClr>
                <a:schemeClr val="accent2">
                  <a:lumMod val="75000"/>
                </a:schemeClr>
              </a:buClr>
            </a:pPr>
            <a:endParaRPr lang="en-US" dirty="0"/>
          </a:p>
          <a:p>
            <a:pPr>
              <a:buClr>
                <a:schemeClr val="accent2">
                  <a:lumMod val="75000"/>
                </a:schemeClr>
              </a:buClr>
            </a:pPr>
            <a:r>
              <a:rPr lang="en-US" dirty="0"/>
              <a:t>They are unable to quantify the level of damage.</a:t>
            </a:r>
          </a:p>
          <a:p>
            <a:pPr>
              <a:buClr>
                <a:schemeClr val="accent2">
                  <a:lumMod val="75000"/>
                </a:schemeClr>
              </a:buClr>
            </a:pPr>
            <a:endParaRPr lang="en-US" dirty="0"/>
          </a:p>
          <a:p>
            <a:pPr>
              <a:buClr>
                <a:schemeClr val="accent2">
                  <a:lumMod val="75000"/>
                </a:schemeClr>
              </a:buClr>
            </a:pPr>
            <a:r>
              <a:rPr lang="en-US" dirty="0"/>
              <a:t>The question is why do we need to quantify the level of damage?</a:t>
            </a:r>
          </a:p>
        </p:txBody>
      </p:sp>
    </p:spTree>
    <p:extLst>
      <p:ext uri="{BB962C8B-B14F-4D97-AF65-F5344CB8AC3E}">
        <p14:creationId xmlns:p14="http://schemas.microsoft.com/office/powerpoint/2010/main" val="34860436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56731C-43D8-70C1-0731-F4B59B055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C57EE-9679-E574-7D7E-6E47005BB7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418" y="15548"/>
            <a:ext cx="10515600" cy="935270"/>
          </a:xfrm>
        </p:spPr>
        <p:txBody>
          <a:bodyPr/>
          <a:lstStyle/>
          <a:p>
            <a:r>
              <a:rPr lang="en-US" dirty="0"/>
              <a:t>Lets start with an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10D84B-1814-4A0F-87FA-2969D20CE5B9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359814" y="919288"/>
            <a:ext cx="11779404" cy="72912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dirty="0"/>
              <a:t>We simulated a bridge pier with different type of forces,  and measured the acceleration of vibration at the tip of pier close to the bearing.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D1E764-F66B-4FA9-5336-1746291479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418" y="2072401"/>
            <a:ext cx="3787566" cy="3378539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09610FBB-66D9-7428-F48C-46303D91C519}"/>
              </a:ext>
            </a:extLst>
          </p:cNvPr>
          <p:cNvGrpSpPr/>
          <p:nvPr/>
        </p:nvGrpSpPr>
        <p:grpSpPr>
          <a:xfrm>
            <a:off x="4421512" y="3895548"/>
            <a:ext cx="7495152" cy="1991316"/>
            <a:chOff x="4466116" y="4720735"/>
            <a:chExt cx="7495152" cy="1991316"/>
          </a:xfrm>
        </p:grpSpPr>
        <p:pic>
          <p:nvPicPr>
            <p:cNvPr id="11" name="Picture 10" descr="Graphical user interface, shape, arrow&#10;&#10;Description automatically generated">
              <a:extLst>
                <a:ext uri="{FF2B5EF4-FFF2-40B4-BE49-F238E27FC236}">
                  <a16:creationId xmlns:a16="http://schemas.microsoft.com/office/drawing/2014/main" id="{85754A98-CF05-ECA1-8619-2C695A21D8F8}"/>
                </a:ext>
              </a:extLst>
            </p:cNvPr>
            <p:cNvPicPr/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845" r="7013"/>
            <a:stretch/>
          </p:blipFill>
          <p:spPr bwMode="auto">
            <a:xfrm>
              <a:off x="5386580" y="4720735"/>
              <a:ext cx="3176853" cy="1991316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pic>
          <p:nvPicPr>
            <p:cNvPr id="12" name="Picture 11" descr="Chart&#10;&#10;Description automatically generated">
              <a:extLst>
                <a:ext uri="{FF2B5EF4-FFF2-40B4-BE49-F238E27FC236}">
                  <a16:creationId xmlns:a16="http://schemas.microsoft.com/office/drawing/2014/main" id="{DEBD8062-EB6C-E310-1D39-82FF5E10AF72}"/>
                </a:ext>
              </a:extLst>
            </p:cNvPr>
            <p:cNvPicPr/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57" r="7031"/>
            <a:stretch/>
          </p:blipFill>
          <p:spPr bwMode="auto">
            <a:xfrm>
              <a:off x="8606031" y="4755562"/>
              <a:ext cx="3355237" cy="1947773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F937C9BF-A48A-BC3C-524D-B30EFD44D53F}"/>
                </a:ext>
              </a:extLst>
            </p:cNvPr>
            <p:cNvSpPr/>
            <p:nvPr/>
          </p:nvSpPr>
          <p:spPr>
            <a:xfrm>
              <a:off x="9003281" y="5146451"/>
              <a:ext cx="252452" cy="273163"/>
            </a:xfrm>
            <a:prstGeom prst="ellipse">
              <a:avLst/>
            </a:prstGeom>
            <a:noFill/>
            <a:ln>
              <a:solidFill>
                <a:srgbClr val="B91E3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11A1CDF-7EA6-DD56-C938-68AF19024A99}"/>
                </a:ext>
              </a:extLst>
            </p:cNvPr>
            <p:cNvSpPr txBox="1"/>
            <p:nvPr/>
          </p:nvSpPr>
          <p:spPr>
            <a:xfrm rot="16200000">
              <a:off x="3952336" y="5234515"/>
              <a:ext cx="1673892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800" dirty="0">
                  <a:latin typeface="Garamond" panose="02020404030301010803" pitchFamily="18" charset="0"/>
                </a:rPr>
                <a:t>20% change in stiffness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22C04C1-BD5D-F501-8A44-9409E34AD870}"/>
              </a:ext>
            </a:extLst>
          </p:cNvPr>
          <p:cNvGrpSpPr/>
          <p:nvPr/>
        </p:nvGrpSpPr>
        <p:grpSpPr>
          <a:xfrm>
            <a:off x="4466116" y="1665943"/>
            <a:ext cx="7350173" cy="2253773"/>
            <a:chOff x="4466116" y="2022781"/>
            <a:chExt cx="7350173" cy="2253773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676156D7-4FA9-43B6-3477-93E5948939CA}"/>
                </a:ext>
              </a:extLst>
            </p:cNvPr>
            <p:cNvGrpSpPr/>
            <p:nvPr/>
          </p:nvGrpSpPr>
          <p:grpSpPr>
            <a:xfrm>
              <a:off x="4466116" y="2285238"/>
              <a:ext cx="7350173" cy="1991316"/>
              <a:chOff x="4524494" y="2543355"/>
              <a:chExt cx="7350173" cy="1991316"/>
            </a:xfrm>
          </p:grpSpPr>
          <p:pic>
            <p:nvPicPr>
              <p:cNvPr id="6" name="Picture 5" descr="Chart&#10;&#10;Description automatically generated">
                <a:extLst>
                  <a:ext uri="{FF2B5EF4-FFF2-40B4-BE49-F238E27FC236}">
                    <a16:creationId xmlns:a16="http://schemas.microsoft.com/office/drawing/2014/main" id="{171EB59D-AD1E-9855-838E-6329B7F68AC1}"/>
                  </a:ext>
                </a:extLst>
              </p:cNvPr>
              <p:cNvPicPr/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648" r="6798"/>
              <a:stretch/>
            </p:blipFill>
            <p:spPr bwMode="auto">
              <a:xfrm>
                <a:off x="8563432" y="2543355"/>
                <a:ext cx="3311235" cy="1991316"/>
              </a:xfrm>
              <a:prstGeom prst="rect">
                <a:avLst/>
              </a:prstGeom>
              <a:ln>
                <a:noFill/>
              </a:ln>
              <a:extLst>
                <a:ext uri="{53640926-AAD7-44D8-BBD7-CCE9431645EC}">
                  <a14:shadowObscured xmlns:a14="http://schemas.microsoft.com/office/drawing/2010/main"/>
                </a:ext>
              </a:extLst>
            </p:spPr>
          </p:pic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C55DC1F7-4C5C-8CDF-A0E9-B406A67E52B9}"/>
                  </a:ext>
                </a:extLst>
              </p:cNvPr>
              <p:cNvSpPr/>
              <p:nvPr/>
            </p:nvSpPr>
            <p:spPr>
              <a:xfrm>
                <a:off x="8931760" y="2984555"/>
                <a:ext cx="252452" cy="273163"/>
              </a:xfrm>
              <a:prstGeom prst="ellipse">
                <a:avLst/>
              </a:prstGeom>
              <a:noFill/>
              <a:ln>
                <a:solidFill>
                  <a:srgbClr val="B91E3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8" name="Picture 7" descr="Graphical user interface&#10;&#10;Description automatically generated">
                <a:extLst>
                  <a:ext uri="{FF2B5EF4-FFF2-40B4-BE49-F238E27FC236}">
                    <a16:creationId xmlns:a16="http://schemas.microsoft.com/office/drawing/2014/main" id="{F4D1E9D8-CF03-4F33-32CA-F68955B5F681}"/>
                  </a:ext>
                </a:extLst>
              </p:cNvPr>
              <p:cNvPicPr/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723" r="6904"/>
              <a:stretch/>
            </p:blipFill>
            <p:spPr bwMode="auto">
              <a:xfrm>
                <a:off x="5385006" y="2568138"/>
                <a:ext cx="3088063" cy="1931246"/>
              </a:xfrm>
              <a:prstGeom prst="rect">
                <a:avLst/>
              </a:prstGeom>
              <a:ln>
                <a:noFill/>
              </a:ln>
              <a:extLst>
                <a:ext uri="{53640926-AAD7-44D8-BBD7-CCE9431645EC}">
                  <a14:shadowObscured xmlns:a14="http://schemas.microsoft.com/office/drawing/2010/main"/>
                </a:ext>
              </a:extLst>
            </p:spPr>
          </p:pic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3B67735-0E77-1B6C-2AE1-F69E2D6031D4}"/>
                  </a:ext>
                </a:extLst>
              </p:cNvPr>
              <p:cNvSpPr txBox="1"/>
              <p:nvPr/>
            </p:nvSpPr>
            <p:spPr>
              <a:xfrm rot="16200000">
                <a:off x="3872214" y="3244334"/>
                <a:ext cx="167389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800" dirty="0">
                    <a:latin typeface="Garamond" panose="02020404030301010803" pitchFamily="18" charset="0"/>
                  </a:rPr>
                  <a:t>Original model</a:t>
                </a:r>
              </a:p>
            </p:txBody>
          </p:sp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52F2F5F-7E3E-6CD0-D526-D7E104BBA128}"/>
                </a:ext>
              </a:extLst>
            </p:cNvPr>
            <p:cNvSpPr txBox="1"/>
            <p:nvPr/>
          </p:nvSpPr>
          <p:spPr>
            <a:xfrm>
              <a:off x="5736264" y="2059907"/>
              <a:ext cx="229906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800" dirty="0">
                  <a:latin typeface="Garamond" panose="02020404030301010803" pitchFamily="18" charset="0"/>
                </a:rPr>
                <a:t>Time domain signal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FAF170C-D38D-4FD9-BA6D-DFB5728BAD2E}"/>
                </a:ext>
              </a:extLst>
            </p:cNvPr>
            <p:cNvSpPr txBox="1"/>
            <p:nvPr/>
          </p:nvSpPr>
          <p:spPr>
            <a:xfrm>
              <a:off x="9011136" y="2022781"/>
              <a:ext cx="245231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800" dirty="0">
                  <a:latin typeface="Garamond" panose="02020404030301010803" pitchFamily="18" charset="0"/>
                </a:rPr>
                <a:t>Frequency domain signal</a:t>
              </a:r>
            </a:p>
          </p:txBody>
        </p:sp>
      </p:grp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5778CC68-1E93-7959-DC1C-A1A6E6ADB853}"/>
              </a:ext>
            </a:extLst>
          </p:cNvPr>
          <p:cNvSpPr txBox="1">
            <a:spLocks/>
          </p:cNvSpPr>
          <p:nvPr/>
        </p:nvSpPr>
        <p:spPr>
          <a:xfrm>
            <a:off x="263310" y="5997749"/>
            <a:ext cx="11779404" cy="7291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dirty="0"/>
              <a:t>Here, you can ask many questions, which I am going to answer through the lecture!</a:t>
            </a:r>
          </a:p>
        </p:txBody>
      </p:sp>
    </p:spTree>
    <p:extLst>
      <p:ext uri="{BB962C8B-B14F-4D97-AF65-F5344CB8AC3E}">
        <p14:creationId xmlns:p14="http://schemas.microsoft.com/office/powerpoint/2010/main" val="2679986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585BC-34C4-4878-4685-D551F2F86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can we define a model?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E2F554A-1BDB-F380-100F-9355BF8C06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858" y="1507184"/>
            <a:ext cx="5156088" cy="38436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71E1452-57A2-8A7F-9941-1457A81D9D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8857" y="1704828"/>
            <a:ext cx="6203616" cy="36459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1A90B92-E747-5D4B-1F57-B23C6EC90546}"/>
              </a:ext>
            </a:extLst>
          </p:cNvPr>
          <p:cNvSpPr txBox="1"/>
          <p:nvPr/>
        </p:nvSpPr>
        <p:spPr>
          <a:xfrm>
            <a:off x="483221" y="5844318"/>
            <a:ext cx="1142307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Amer, Y. A., A. T. El-Sayed, and M. M. Agwa. "Controlling wind turbine tower vibration under external force by applying control systems combination." </a:t>
            </a:r>
            <a:r>
              <a:rPr lang="en-US" sz="105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Scientific Reports</a:t>
            </a:r>
            <a:r>
              <a:rPr lang="en-US" sz="105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14.1 (2024): 18597.</a:t>
            </a:r>
            <a:endParaRPr lang="en-US" sz="105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0D2D2A1-B160-E852-7460-85911C6F498B}"/>
              </a:ext>
            </a:extLst>
          </p:cNvPr>
          <p:cNvSpPr txBox="1"/>
          <p:nvPr/>
        </p:nvSpPr>
        <p:spPr>
          <a:xfrm>
            <a:off x="464126" y="6098234"/>
            <a:ext cx="1122235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Ocak, Ayla, et al. "Optimization of tuned liquid damper including different liquids for lateral displacement control of single and multi-story structures." </a:t>
            </a:r>
            <a:r>
              <a:rPr lang="en-US" sz="105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Buildings</a:t>
            </a:r>
            <a:r>
              <a:rPr lang="en-US" sz="105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12.3 (2022): 377.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912095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04C1F7-B479-8FC6-00E0-D22AA189F6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F2CC5-D3C0-0206-FDE7-E13C098CD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can we define a discrete model?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810EF66-69EF-F878-3CBB-D808B8D5F06B}"/>
              </a:ext>
            </a:extLst>
          </p:cNvPr>
          <p:cNvSpPr txBox="1">
            <a:spLocks/>
          </p:cNvSpPr>
          <p:nvPr/>
        </p:nvSpPr>
        <p:spPr>
          <a:xfrm>
            <a:off x="439127" y="1134228"/>
            <a:ext cx="10031868" cy="7291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dirty="0"/>
              <a:t>In every dynamical system we have three main physical components: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23B303D-9ECF-2D9D-A3E6-F358557E6097}"/>
              </a:ext>
            </a:extLst>
          </p:cNvPr>
          <p:cNvSpPr txBox="1">
            <a:spLocks/>
          </p:cNvSpPr>
          <p:nvPr/>
        </p:nvSpPr>
        <p:spPr>
          <a:xfrm>
            <a:off x="549384" y="1909558"/>
            <a:ext cx="10515600" cy="7291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accent2">
                  <a:lumMod val="75000"/>
                </a:schemeClr>
              </a:buClr>
            </a:pPr>
            <a:r>
              <a:rPr lang="en-US" sz="2000" dirty="0"/>
              <a:t>The </a:t>
            </a:r>
            <a:r>
              <a:rPr lang="en-US" sz="2000" b="1" dirty="0"/>
              <a:t>mass </a:t>
            </a:r>
            <a:r>
              <a:rPr lang="en-US" sz="2000" dirty="0"/>
              <a:t>(</a:t>
            </a:r>
            <a:r>
              <a:rPr lang="en-US" sz="20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m</a:t>
            </a:r>
            <a:r>
              <a:rPr lang="en-US" sz="2000" dirty="0"/>
              <a:t>) which resists acceleration according to Newton’s second law.</a:t>
            </a:r>
          </a:p>
          <a:p>
            <a:endParaRPr lang="ar-AE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B030A34-F2B2-00A7-1D0F-0EAF9D00292B}"/>
                  </a:ext>
                </a:extLst>
              </p:cNvPr>
              <p:cNvSpPr txBox="1"/>
              <p:nvPr/>
            </p:nvSpPr>
            <p:spPr>
              <a:xfrm>
                <a:off x="4914226" y="2638685"/>
                <a:ext cx="918008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𝑚</m:t>
                      </m:r>
                      <m:acc>
                        <m:accPr>
                          <m:chr m:val="̈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B030A34-F2B2-00A7-1D0F-0EAF9D0029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4226" y="2638685"/>
                <a:ext cx="918008" cy="307777"/>
              </a:xfrm>
              <a:prstGeom prst="rect">
                <a:avLst/>
              </a:prstGeom>
              <a:blipFill>
                <a:blip r:embed="rId2"/>
                <a:stretch>
                  <a:fillRect l="-5405" r="-2703"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5ECC6759-AB80-8778-79F5-C7EDE6E75A7B}"/>
              </a:ext>
            </a:extLst>
          </p:cNvPr>
          <p:cNvSpPr txBox="1"/>
          <p:nvPr/>
        </p:nvSpPr>
        <p:spPr>
          <a:xfrm>
            <a:off x="549384" y="3228945"/>
            <a:ext cx="780027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Clr>
                <a:schemeClr val="accent2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2000" dirty="0"/>
              <a:t>The </a:t>
            </a:r>
            <a:r>
              <a:rPr lang="en-US" sz="2000" b="1" dirty="0"/>
              <a:t>damper </a:t>
            </a:r>
            <a:r>
              <a:rPr lang="en-US" sz="2000" dirty="0"/>
              <a:t>(</a:t>
            </a:r>
            <a:r>
              <a:rPr lang="en-US" sz="20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</a:t>
            </a:r>
            <a:r>
              <a:rPr lang="en-US" sz="2000" dirty="0"/>
              <a:t>) which  produces a force proportional to velocity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4FB8F2C-BF9C-D4EB-2BF3-E99B43396B58}"/>
                  </a:ext>
                </a:extLst>
              </p:cNvPr>
              <p:cNvSpPr txBox="1"/>
              <p:nvPr/>
            </p:nvSpPr>
            <p:spPr>
              <a:xfrm>
                <a:off x="4946022" y="3865878"/>
                <a:ext cx="924420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𝑐</m:t>
                      </m:r>
                      <m:acc>
                        <m:accPr>
                          <m:chr m:val="̇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4FB8F2C-BF9C-D4EB-2BF3-E99B43396B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6022" y="3865878"/>
                <a:ext cx="924420" cy="307777"/>
              </a:xfrm>
              <a:prstGeom prst="rect">
                <a:avLst/>
              </a:prstGeom>
              <a:blipFill>
                <a:blip r:embed="rId3"/>
                <a:stretch>
                  <a:fillRect l="-6757" r="-2703" b="-1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A0F19148-EDFB-9220-E019-F140B17496CE}"/>
              </a:ext>
            </a:extLst>
          </p:cNvPr>
          <p:cNvSpPr txBox="1"/>
          <p:nvPr/>
        </p:nvSpPr>
        <p:spPr>
          <a:xfrm>
            <a:off x="549384" y="4410478"/>
            <a:ext cx="95424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chemeClr val="accent2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2000" dirty="0"/>
              <a:t>The </a:t>
            </a:r>
            <a:r>
              <a:rPr lang="en-US" sz="2000" b="1" dirty="0"/>
              <a:t>spring </a:t>
            </a:r>
            <a:r>
              <a:rPr lang="en-US" sz="2000" dirty="0"/>
              <a:t>(</a:t>
            </a:r>
            <a:r>
              <a:rPr lang="en-US" sz="20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k</a:t>
            </a:r>
            <a:r>
              <a:rPr lang="en-US" sz="2000" dirty="0"/>
              <a:t>) which produces a force proportional to displacement (Hooke’s law).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7638D49-40E6-5E86-7CB5-0479866B04D1}"/>
                  </a:ext>
                </a:extLst>
              </p:cNvPr>
              <p:cNvSpPr txBox="1"/>
              <p:nvPr/>
            </p:nvSpPr>
            <p:spPr>
              <a:xfrm>
                <a:off x="4946022" y="5246959"/>
                <a:ext cx="88569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𝑘𝑥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7638D49-40E6-5E86-7CB5-0479866B04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6022" y="5246959"/>
                <a:ext cx="885692" cy="307777"/>
              </a:xfrm>
              <a:prstGeom prst="rect">
                <a:avLst/>
              </a:prstGeom>
              <a:blipFill>
                <a:blip r:embed="rId4"/>
                <a:stretch>
                  <a:fillRect l="-7042" r="-5634" b="-1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679783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CBB3D9-265E-E7B1-0B32-A6409D2C9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5DD94-4AAC-95F5-BA5E-287124AF3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 degree of freedom system</a:t>
            </a:r>
          </a:p>
        </p:txBody>
      </p:sp>
      <p:pic>
        <p:nvPicPr>
          <p:cNvPr id="5" name="Content Placeholder 7">
            <a:extLst>
              <a:ext uri="{FF2B5EF4-FFF2-40B4-BE49-F238E27FC236}">
                <a16:creationId xmlns:a16="http://schemas.microsoft.com/office/drawing/2014/main" id="{427CB6C0-BDC2-1395-3E16-8585B9165CF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147"/>
          <a:stretch/>
        </p:blipFill>
        <p:spPr>
          <a:xfrm>
            <a:off x="7606441" y="1000565"/>
            <a:ext cx="3327400" cy="2428435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E902CB2C-4638-A3B5-2ACB-7774FF7A37A9}"/>
              </a:ext>
            </a:extLst>
          </p:cNvPr>
          <p:cNvGrpSpPr/>
          <p:nvPr/>
        </p:nvGrpSpPr>
        <p:grpSpPr>
          <a:xfrm>
            <a:off x="7455346" y="3429000"/>
            <a:ext cx="4319239" cy="2900659"/>
            <a:chOff x="8686180" y="1415898"/>
            <a:chExt cx="3327400" cy="2442168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4FD1930E-E0A4-6408-0BC1-D9F7C325FA7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43748"/>
            <a:stretch>
              <a:fillRect/>
            </a:stretch>
          </p:blipFill>
          <p:spPr>
            <a:xfrm>
              <a:off x="8686180" y="1600564"/>
              <a:ext cx="3327400" cy="2257502"/>
            </a:xfrm>
            <a:prstGeom prst="rect">
              <a:avLst/>
            </a:prstGeom>
          </p:spPr>
        </p:pic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A9FCC48D-A1F6-AE7D-C53D-651EEB1C3474}"/>
                </a:ext>
              </a:extLst>
            </p:cNvPr>
            <p:cNvCxnSpPr/>
            <p:nvPr/>
          </p:nvCxnSpPr>
          <p:spPr>
            <a:xfrm>
              <a:off x="11084312" y="1773044"/>
              <a:ext cx="76943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CF9AA10-9E65-59A2-18CD-69D8A5078A57}"/>
                </a:ext>
              </a:extLst>
            </p:cNvPr>
            <p:cNvSpPr txBox="1"/>
            <p:nvPr/>
          </p:nvSpPr>
          <p:spPr>
            <a:xfrm>
              <a:off x="11318765" y="1415898"/>
              <a:ext cx="5164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F(t)</a:t>
              </a:r>
            </a:p>
          </p:txBody>
        </p:sp>
      </p:grpSp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82BD614B-4C0C-516E-532D-6FE957B13DE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306108"/>
              </p:ext>
            </p:extLst>
          </p:nvPr>
        </p:nvGraphicFramePr>
        <p:xfrm>
          <a:off x="1258159" y="1626519"/>
          <a:ext cx="4139031" cy="3604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361960" imgH="2057400" progId="Equation.DSMT4">
                  <p:embed/>
                </p:oleObj>
              </mc:Choice>
              <mc:Fallback>
                <p:oleObj name="Equation" r:id="rId4" imgW="2361960" imgH="2057400" progId="Equation.DSMT4">
                  <p:embed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49C89680-CBF9-3F52-9A5E-C2A09F1B20A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258159" y="1626519"/>
                        <a:ext cx="4139031" cy="36049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90390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8B83F-54B3-ACCD-C0E0-6181EA861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682" y="38946"/>
            <a:ext cx="10515600" cy="755506"/>
          </a:xfrm>
        </p:spPr>
        <p:txBody>
          <a:bodyPr/>
          <a:lstStyle/>
          <a:p>
            <a:r>
              <a:rPr lang="en-US" dirty="0"/>
              <a:t>10 story building at UCSD</a:t>
            </a:r>
          </a:p>
        </p:txBody>
      </p:sp>
      <p:pic>
        <p:nvPicPr>
          <p:cNvPr id="3" name="Online Media 2" descr="UC San Diego earthquake simulator tests 10-story steel-framed building">
            <a:hlinkClick r:id="" action="ppaction://media"/>
            <a:extLst>
              <a:ext uri="{FF2B5EF4-FFF2-40B4-BE49-F238E27FC236}">
                <a16:creationId xmlns:a16="http://schemas.microsoft.com/office/drawing/2014/main" id="{AC3B7AEF-CD11-CE7E-B7DF-6046496739B5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1212273" y="957407"/>
            <a:ext cx="9706009" cy="5483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186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C2CFF-F919-2E22-8943-D1FFE7025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about multi-</a:t>
            </a:r>
            <a:r>
              <a:rPr lang="en-US" dirty="0" err="1"/>
              <a:t>DoF</a:t>
            </a:r>
            <a:r>
              <a:rPr lang="en-US" dirty="0"/>
              <a:t> systems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76B86C13-625B-58ED-5AFA-8D6A32F8074D}"/>
              </a:ext>
            </a:extLst>
          </p:cNvPr>
          <p:cNvGrpSpPr/>
          <p:nvPr/>
        </p:nvGrpSpPr>
        <p:grpSpPr>
          <a:xfrm>
            <a:off x="7482469" y="1550020"/>
            <a:ext cx="4120449" cy="4317132"/>
            <a:chOff x="8051182" y="2415654"/>
            <a:chExt cx="3540584" cy="3641068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16959173-2CDB-865F-442C-16CD43430473}"/>
                </a:ext>
              </a:extLst>
            </p:cNvPr>
            <p:cNvSpPr/>
            <p:nvPr/>
          </p:nvSpPr>
          <p:spPr>
            <a:xfrm>
              <a:off x="8051182" y="5330283"/>
              <a:ext cx="3044283" cy="11151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B69E3572-3D7D-0C91-34F8-0B7624267010}"/>
                </a:ext>
              </a:extLst>
            </p:cNvPr>
            <p:cNvGrpSpPr/>
            <p:nvPr/>
          </p:nvGrpSpPr>
          <p:grpSpPr>
            <a:xfrm>
              <a:off x="8575287" y="4463265"/>
              <a:ext cx="1973767" cy="867018"/>
              <a:chOff x="8575287" y="4463265"/>
              <a:chExt cx="1973767" cy="867018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D11EA0D7-AF7B-EFB3-D92E-6E00954D1E63}"/>
                  </a:ext>
                </a:extLst>
              </p:cNvPr>
              <p:cNvSpPr/>
              <p:nvPr/>
            </p:nvSpPr>
            <p:spPr>
              <a:xfrm>
                <a:off x="8575288" y="4574777"/>
                <a:ext cx="1973766" cy="755506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5AD79DE2-39D2-515B-EFF9-5908CEF700B2}"/>
                  </a:ext>
                </a:extLst>
              </p:cNvPr>
              <p:cNvSpPr/>
              <p:nvPr/>
            </p:nvSpPr>
            <p:spPr>
              <a:xfrm>
                <a:off x="8575287" y="4463265"/>
                <a:ext cx="1973765" cy="111512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CEA20114-A672-D47A-9C47-6D7938216EB8}"/>
                </a:ext>
              </a:extLst>
            </p:cNvPr>
            <p:cNvGrpSpPr/>
            <p:nvPr/>
          </p:nvGrpSpPr>
          <p:grpSpPr>
            <a:xfrm>
              <a:off x="8575285" y="3596247"/>
              <a:ext cx="1973767" cy="867018"/>
              <a:chOff x="8575287" y="4463265"/>
              <a:chExt cx="1973767" cy="867018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61005E5D-0DFC-2315-407E-ACEDA6EFE23F}"/>
                  </a:ext>
                </a:extLst>
              </p:cNvPr>
              <p:cNvSpPr/>
              <p:nvPr/>
            </p:nvSpPr>
            <p:spPr>
              <a:xfrm>
                <a:off x="8575288" y="4574777"/>
                <a:ext cx="1973766" cy="755506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02FF8E33-60B8-8DC7-1AC0-5694AD7F67D1}"/>
                  </a:ext>
                </a:extLst>
              </p:cNvPr>
              <p:cNvSpPr/>
              <p:nvPr/>
            </p:nvSpPr>
            <p:spPr>
              <a:xfrm>
                <a:off x="8575287" y="4463265"/>
                <a:ext cx="1973765" cy="111512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60B7B430-FA43-DE50-3984-F6056D6511F1}"/>
                </a:ext>
              </a:extLst>
            </p:cNvPr>
            <p:cNvGrpSpPr/>
            <p:nvPr/>
          </p:nvGrpSpPr>
          <p:grpSpPr>
            <a:xfrm>
              <a:off x="8575283" y="2716732"/>
              <a:ext cx="1973767" cy="867018"/>
              <a:chOff x="8575287" y="4463265"/>
              <a:chExt cx="1973767" cy="867018"/>
            </a:xfrm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7E39CB3C-997E-B93B-C19B-A87BE727FCF3}"/>
                  </a:ext>
                </a:extLst>
              </p:cNvPr>
              <p:cNvSpPr/>
              <p:nvPr/>
            </p:nvSpPr>
            <p:spPr>
              <a:xfrm>
                <a:off x="8575288" y="4574777"/>
                <a:ext cx="1973766" cy="755506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EAF37040-767F-038B-C235-E3B9B11BAA9D}"/>
                  </a:ext>
                </a:extLst>
              </p:cNvPr>
              <p:cNvSpPr/>
              <p:nvPr/>
            </p:nvSpPr>
            <p:spPr>
              <a:xfrm>
                <a:off x="8575287" y="4463265"/>
                <a:ext cx="1973765" cy="111512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6FE16D9C-D7B5-CED1-A6C8-D581F806B746}"/>
                    </a:ext>
                  </a:extLst>
                </p:cNvPr>
                <p:cNvSpPr txBox="1"/>
                <p:nvPr/>
              </p:nvSpPr>
              <p:spPr>
                <a:xfrm>
                  <a:off x="8992555" y="4698786"/>
                  <a:ext cx="116153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en-US" dirty="0"/>
                    <a:t>,</a:t>
                  </a:r>
                  <a:r>
                    <a:rPr lang="en-US" b="0" dirty="0"/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endParaRPr lang="en-US" dirty="0"/>
                </a:p>
              </p:txBody>
            </p:sp>
          </mc:Choice>
          <mc:Fallback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6FE16D9C-D7B5-CED1-A6C8-D581F806B74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92555" y="4698786"/>
                  <a:ext cx="1161536" cy="369332"/>
                </a:xfrm>
                <a:prstGeom prst="rect">
                  <a:avLst/>
                </a:prstGeom>
                <a:blipFill>
                  <a:blip r:embed="rId2"/>
                  <a:stretch>
                    <a:fillRect t="-5714" b="-571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CDEC4D9E-6CF8-0A1A-B290-26D9289558A3}"/>
                    </a:ext>
                  </a:extLst>
                </p:cNvPr>
                <p:cNvSpPr txBox="1"/>
                <p:nvPr/>
              </p:nvSpPr>
              <p:spPr>
                <a:xfrm>
                  <a:off x="8992555" y="3845915"/>
                  <a:ext cx="117750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lang="en-US" dirty="0"/>
                    <a:t>,</a:t>
                  </a:r>
                  <a:r>
                    <a:rPr lang="en-US" b="0" dirty="0"/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endParaRPr lang="en-US" dirty="0"/>
                </a:p>
              </p:txBody>
            </p:sp>
          </mc:Choice>
          <mc:Fallback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CDEC4D9E-6CF8-0A1A-B290-26D9289558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92555" y="3845915"/>
                  <a:ext cx="1177502" cy="369332"/>
                </a:xfrm>
                <a:prstGeom prst="rect">
                  <a:avLst/>
                </a:prstGeom>
                <a:blipFill>
                  <a:blip r:embed="rId3"/>
                  <a:stretch>
                    <a:fillRect t="-5714" b="-857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32982F85-1008-93F4-96AC-3E60F52B2B67}"/>
                    </a:ext>
                  </a:extLst>
                </p:cNvPr>
                <p:cNvSpPr txBox="1"/>
                <p:nvPr/>
              </p:nvSpPr>
              <p:spPr>
                <a:xfrm>
                  <a:off x="8981397" y="2943839"/>
                  <a:ext cx="117750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a14:m>
                  <a:r>
                    <a:rPr lang="en-US" dirty="0"/>
                    <a:t>,</a:t>
                  </a:r>
                  <a:r>
                    <a:rPr lang="en-US" b="0" dirty="0"/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a14:m>
                  <a:endParaRPr lang="en-US" dirty="0"/>
                </a:p>
              </p:txBody>
            </p:sp>
          </mc:Choice>
          <mc:Fallback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32982F85-1008-93F4-96AC-3E60F52B2B6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81397" y="2943839"/>
                  <a:ext cx="1177502" cy="369332"/>
                </a:xfrm>
                <a:prstGeom prst="rect">
                  <a:avLst/>
                </a:prstGeom>
                <a:blipFill>
                  <a:blip r:embed="rId4"/>
                  <a:stretch>
                    <a:fillRect t="-5714" b="-857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B0C570B3-4645-8889-C2B3-3F0F80404AFB}"/>
                </a:ext>
              </a:extLst>
            </p:cNvPr>
            <p:cNvCxnSpPr/>
            <p:nvPr/>
          </p:nvCxnSpPr>
          <p:spPr>
            <a:xfrm>
              <a:off x="8805386" y="5664820"/>
              <a:ext cx="1433835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01CE0545-A26C-2E02-CD0F-A40762B93ABF}"/>
                </a:ext>
              </a:extLst>
            </p:cNvPr>
            <p:cNvCxnSpPr/>
            <p:nvPr/>
          </p:nvCxnSpPr>
          <p:spPr>
            <a:xfrm>
              <a:off x="10599163" y="2772488"/>
              <a:ext cx="992603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68E74082-6928-7707-E950-9C44EDE8FA6E}"/>
                </a:ext>
              </a:extLst>
            </p:cNvPr>
            <p:cNvCxnSpPr/>
            <p:nvPr/>
          </p:nvCxnSpPr>
          <p:spPr>
            <a:xfrm>
              <a:off x="10599162" y="3652003"/>
              <a:ext cx="992603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584AC8EE-1CEE-EAD4-4F4A-C997E1FF5F21}"/>
                </a:ext>
              </a:extLst>
            </p:cNvPr>
            <p:cNvCxnSpPr/>
            <p:nvPr/>
          </p:nvCxnSpPr>
          <p:spPr>
            <a:xfrm>
              <a:off x="10599162" y="4463265"/>
              <a:ext cx="992603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5FA8A8F3-83E0-5064-193F-91C41DB05E13}"/>
                    </a:ext>
                  </a:extLst>
                </p:cNvPr>
                <p:cNvSpPr txBox="1"/>
                <p:nvPr/>
              </p:nvSpPr>
              <p:spPr>
                <a:xfrm>
                  <a:off x="10875226" y="4121812"/>
                  <a:ext cx="440473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5FA8A8F3-83E0-5064-193F-91C41DB05E1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75226" y="4121812"/>
                  <a:ext cx="440473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3ECA7426-ADE8-B0CD-E339-B9D1F638D174}"/>
                    </a:ext>
                  </a:extLst>
                </p:cNvPr>
                <p:cNvSpPr txBox="1"/>
                <p:nvPr/>
              </p:nvSpPr>
              <p:spPr>
                <a:xfrm>
                  <a:off x="10827832" y="3270174"/>
                  <a:ext cx="440473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3ECA7426-ADE8-B0CD-E339-B9D1F638D17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27832" y="3270174"/>
                  <a:ext cx="440473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469FD36E-8113-334D-9565-1654D1F80E0D}"/>
                    </a:ext>
                  </a:extLst>
                </p:cNvPr>
                <p:cNvSpPr txBox="1"/>
                <p:nvPr/>
              </p:nvSpPr>
              <p:spPr>
                <a:xfrm>
                  <a:off x="10847346" y="2415654"/>
                  <a:ext cx="440473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469FD36E-8113-334D-9565-1654D1F80E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47346" y="2415654"/>
                  <a:ext cx="440473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81B1E10E-B189-0897-3433-1ACFC3D3AB80}"/>
                    </a:ext>
                  </a:extLst>
                </p:cNvPr>
                <p:cNvSpPr txBox="1"/>
                <p:nvPr/>
              </p:nvSpPr>
              <p:spPr>
                <a:xfrm>
                  <a:off x="9361069" y="5664820"/>
                  <a:ext cx="440473" cy="39190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81B1E10E-B189-0897-3433-1ACFC3D3AB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61069" y="5664820"/>
                  <a:ext cx="440473" cy="39190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8" name="Group 217">
            <a:extLst>
              <a:ext uri="{FF2B5EF4-FFF2-40B4-BE49-F238E27FC236}">
                <a16:creationId xmlns:a16="http://schemas.microsoft.com/office/drawing/2014/main" id="{F9AE2892-9CFE-36EC-125C-BE289FC99EC6}"/>
              </a:ext>
            </a:extLst>
          </p:cNvPr>
          <p:cNvGrpSpPr/>
          <p:nvPr/>
        </p:nvGrpSpPr>
        <p:grpSpPr>
          <a:xfrm>
            <a:off x="1380531" y="2693752"/>
            <a:ext cx="5265126" cy="1370909"/>
            <a:chOff x="666634" y="2731521"/>
            <a:chExt cx="5265126" cy="1370909"/>
          </a:xfrm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88F86301-39BA-1D88-AF7D-D8FBEA2065CE}"/>
                </a:ext>
              </a:extLst>
            </p:cNvPr>
            <p:cNvGrpSpPr/>
            <p:nvPr/>
          </p:nvGrpSpPr>
          <p:grpSpPr>
            <a:xfrm>
              <a:off x="1499110" y="2772184"/>
              <a:ext cx="418646" cy="568718"/>
              <a:chOff x="3200271" y="2691559"/>
              <a:chExt cx="589712" cy="644974"/>
            </a:xfrm>
          </p:grpSpPr>
          <p:cxnSp>
            <p:nvCxnSpPr>
              <p:cNvPr id="212" name="Straight Connector 211">
                <a:extLst>
                  <a:ext uri="{FF2B5EF4-FFF2-40B4-BE49-F238E27FC236}">
                    <a16:creationId xmlns:a16="http://schemas.microsoft.com/office/drawing/2014/main" id="{BBEC2F3D-3904-93C6-88CB-09450E743B6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239302" y="3095740"/>
                <a:ext cx="0" cy="240793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3" name="Straight Arrow Connector 212">
                <a:extLst>
                  <a:ext uri="{FF2B5EF4-FFF2-40B4-BE49-F238E27FC236}">
                    <a16:creationId xmlns:a16="http://schemas.microsoft.com/office/drawing/2014/main" id="{CCE9CEE8-E673-2D6B-BAEB-EDFAFCAB3E88}"/>
                  </a:ext>
                </a:extLst>
              </p:cNvPr>
              <p:cNvCxnSpPr/>
              <p:nvPr/>
            </p:nvCxnSpPr>
            <p:spPr>
              <a:xfrm>
                <a:off x="3228416" y="3095740"/>
                <a:ext cx="528467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4" name="TextBox 213">
                    <a:extLst>
                      <a:ext uri="{FF2B5EF4-FFF2-40B4-BE49-F238E27FC236}">
                        <a16:creationId xmlns:a16="http://schemas.microsoft.com/office/drawing/2014/main" id="{E130945E-3685-503A-FE63-A8D603678858}"/>
                      </a:ext>
                    </a:extLst>
                  </p:cNvPr>
                  <p:cNvSpPr txBox="1"/>
                  <p:nvPr/>
                </p:nvSpPr>
                <p:spPr>
                  <a:xfrm>
                    <a:off x="3200271" y="2691559"/>
                    <a:ext cx="589712" cy="338553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lang="en-US" sz="2200" b="0" i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sz="2200" b="0" i="0" smtClean="0"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n-US" sz="2200" b="0" i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US" sz="2200" dirty="0"/>
                  </a:p>
                </p:txBody>
              </p:sp>
            </mc:Choice>
            <mc:Fallback xmlns=""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1CFF719C-5EE1-E4B5-A929-8EABF7523E8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00271" y="2691559"/>
                    <a:ext cx="589712" cy="338553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23529" t="-8333" r="-52941" b="-50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35365C84-A4E1-0916-2B2A-C1FF4966B9D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6512" y="4084068"/>
              <a:ext cx="5245248" cy="18362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FA9E338E-3E85-D2EE-6BB6-51A2B1565D72}"/>
                </a:ext>
              </a:extLst>
            </p:cNvPr>
            <p:cNvGrpSpPr/>
            <p:nvPr/>
          </p:nvGrpSpPr>
          <p:grpSpPr>
            <a:xfrm>
              <a:off x="1197282" y="3310664"/>
              <a:ext cx="2533530" cy="761012"/>
              <a:chOff x="1917756" y="3817808"/>
              <a:chExt cx="3568773" cy="863052"/>
            </a:xfrm>
          </p:grpSpPr>
          <p:grpSp>
            <p:nvGrpSpPr>
              <p:cNvPr id="185" name="Group 184">
                <a:extLst>
                  <a:ext uri="{FF2B5EF4-FFF2-40B4-BE49-F238E27FC236}">
                    <a16:creationId xmlns:a16="http://schemas.microsoft.com/office/drawing/2014/main" id="{1654AA80-DEC4-C1A6-113D-4A1F9A466284}"/>
                  </a:ext>
                </a:extLst>
              </p:cNvPr>
              <p:cNvGrpSpPr/>
              <p:nvPr/>
            </p:nvGrpSpPr>
            <p:grpSpPr>
              <a:xfrm>
                <a:off x="1917756" y="3818858"/>
                <a:ext cx="1491343" cy="862002"/>
                <a:chOff x="2025545" y="3818857"/>
                <a:chExt cx="1491343" cy="862002"/>
              </a:xfrm>
            </p:grpSpPr>
            <p:sp>
              <p:nvSpPr>
                <p:cNvPr id="208" name="Rectangle 207">
                  <a:extLst>
                    <a:ext uri="{FF2B5EF4-FFF2-40B4-BE49-F238E27FC236}">
                      <a16:creationId xmlns:a16="http://schemas.microsoft.com/office/drawing/2014/main" id="{FF4794C1-A04B-A602-364F-2D5388517F9B}"/>
                    </a:ext>
                  </a:extLst>
                </p:cNvPr>
                <p:cNvSpPr/>
                <p:nvPr/>
              </p:nvSpPr>
              <p:spPr>
                <a:xfrm>
                  <a:off x="2025545" y="3818857"/>
                  <a:ext cx="1491343" cy="603926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200"/>
                </a:p>
              </p:txBody>
            </p:sp>
            <p:sp>
              <p:nvSpPr>
                <p:cNvPr id="209" name="Oval 208">
                  <a:extLst>
                    <a:ext uri="{FF2B5EF4-FFF2-40B4-BE49-F238E27FC236}">
                      <a16:creationId xmlns:a16="http://schemas.microsoft.com/office/drawing/2014/main" id="{816B6624-8376-574F-CCE3-0D4CC2894551}"/>
                    </a:ext>
                  </a:extLst>
                </p:cNvPr>
                <p:cNvSpPr/>
                <p:nvPr/>
              </p:nvSpPr>
              <p:spPr>
                <a:xfrm>
                  <a:off x="2273226" y="4430488"/>
                  <a:ext cx="254202" cy="250371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200"/>
                </a:p>
              </p:txBody>
            </p:sp>
            <p:sp>
              <p:nvSpPr>
                <p:cNvPr id="210" name="Oval 209">
                  <a:extLst>
                    <a:ext uri="{FF2B5EF4-FFF2-40B4-BE49-F238E27FC236}">
                      <a16:creationId xmlns:a16="http://schemas.microsoft.com/office/drawing/2014/main" id="{CE42F91F-CF05-4B89-FDA4-EF4CF2B6179C}"/>
                    </a:ext>
                  </a:extLst>
                </p:cNvPr>
                <p:cNvSpPr/>
                <p:nvPr/>
              </p:nvSpPr>
              <p:spPr>
                <a:xfrm>
                  <a:off x="3004511" y="4430488"/>
                  <a:ext cx="254202" cy="250371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200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11" name="TextBox 210">
                      <a:extLst>
                        <a:ext uri="{FF2B5EF4-FFF2-40B4-BE49-F238E27FC236}">
                          <a16:creationId xmlns:a16="http://schemas.microsoft.com/office/drawing/2014/main" id="{B2D3EE56-4436-523C-3473-FB6B1E96102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578835" y="3907369"/>
                      <a:ext cx="436402" cy="338554"/>
                    </a:xfrm>
                    <a:prstGeom prst="rect">
                      <a:avLst/>
                    </a:prstGeom>
                    <a:solidFill>
                      <a:schemeClr val="bg1">
                        <a:lumMod val="85000"/>
                      </a:schemeClr>
                    </a:solidFill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200" dirty="0"/>
                    </a:p>
                  </p:txBody>
                </p:sp>
              </mc:Choice>
              <mc:Fallback xmlns="">
                <p:sp>
                  <p:nvSpPr>
                    <p:cNvPr id="45" name="TextBox 44">
                      <a:extLst>
                        <a:ext uri="{FF2B5EF4-FFF2-40B4-BE49-F238E27FC236}">
                          <a16:creationId xmlns:a16="http://schemas.microsoft.com/office/drawing/2014/main" id="{12D0FE82-6C17-9370-8864-9C4170310402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578835" y="3907369"/>
                      <a:ext cx="436402" cy="338554"/>
                    </a:xfrm>
                    <a:prstGeom prst="rect">
                      <a:avLst/>
                    </a:prstGeom>
                    <a:blipFill>
                      <a:blip r:embed="rId10"/>
                      <a:stretch>
                        <a:fillRect l="-19231" r="-30769" b="-2400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186" name="Group 185">
                <a:extLst>
                  <a:ext uri="{FF2B5EF4-FFF2-40B4-BE49-F238E27FC236}">
                    <a16:creationId xmlns:a16="http://schemas.microsoft.com/office/drawing/2014/main" id="{C5443414-3DE3-18CE-C292-5A050C11BC0A}"/>
                  </a:ext>
                </a:extLst>
              </p:cNvPr>
              <p:cNvGrpSpPr/>
              <p:nvPr/>
            </p:nvGrpSpPr>
            <p:grpSpPr>
              <a:xfrm>
                <a:off x="3995186" y="3817808"/>
                <a:ext cx="1491343" cy="862002"/>
                <a:chOff x="2025545" y="3818857"/>
                <a:chExt cx="1491343" cy="862002"/>
              </a:xfrm>
            </p:grpSpPr>
            <p:sp>
              <p:nvSpPr>
                <p:cNvPr id="204" name="Rectangle 203">
                  <a:extLst>
                    <a:ext uri="{FF2B5EF4-FFF2-40B4-BE49-F238E27FC236}">
                      <a16:creationId xmlns:a16="http://schemas.microsoft.com/office/drawing/2014/main" id="{834E2827-9B8E-0C47-A740-F23D737ED6ED}"/>
                    </a:ext>
                  </a:extLst>
                </p:cNvPr>
                <p:cNvSpPr/>
                <p:nvPr/>
              </p:nvSpPr>
              <p:spPr>
                <a:xfrm>
                  <a:off x="2025545" y="3818857"/>
                  <a:ext cx="1491343" cy="603926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200"/>
                </a:p>
              </p:txBody>
            </p:sp>
            <p:sp>
              <p:nvSpPr>
                <p:cNvPr id="205" name="Oval 204">
                  <a:extLst>
                    <a:ext uri="{FF2B5EF4-FFF2-40B4-BE49-F238E27FC236}">
                      <a16:creationId xmlns:a16="http://schemas.microsoft.com/office/drawing/2014/main" id="{5374BAEA-A487-09AC-6C7E-B460DAF28F3B}"/>
                    </a:ext>
                  </a:extLst>
                </p:cNvPr>
                <p:cNvSpPr/>
                <p:nvPr/>
              </p:nvSpPr>
              <p:spPr>
                <a:xfrm>
                  <a:off x="2273226" y="4430488"/>
                  <a:ext cx="254202" cy="250371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200"/>
                </a:p>
              </p:txBody>
            </p:sp>
            <p:sp>
              <p:nvSpPr>
                <p:cNvPr id="206" name="Oval 205">
                  <a:extLst>
                    <a:ext uri="{FF2B5EF4-FFF2-40B4-BE49-F238E27FC236}">
                      <a16:creationId xmlns:a16="http://schemas.microsoft.com/office/drawing/2014/main" id="{DFDD2A1B-DCCA-D612-CAC8-000C485BE7CC}"/>
                    </a:ext>
                  </a:extLst>
                </p:cNvPr>
                <p:cNvSpPr/>
                <p:nvPr/>
              </p:nvSpPr>
              <p:spPr>
                <a:xfrm>
                  <a:off x="3004511" y="4430488"/>
                  <a:ext cx="254202" cy="250371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200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07" name="TextBox 206">
                      <a:extLst>
                        <a:ext uri="{FF2B5EF4-FFF2-40B4-BE49-F238E27FC236}">
                          <a16:creationId xmlns:a16="http://schemas.microsoft.com/office/drawing/2014/main" id="{210D40EF-FA75-2204-B05D-312CCD08F4A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563845" y="3922360"/>
                      <a:ext cx="442941" cy="338554"/>
                    </a:xfrm>
                    <a:prstGeom prst="rect">
                      <a:avLst/>
                    </a:prstGeom>
                    <a:solidFill>
                      <a:schemeClr val="bg1">
                        <a:lumMod val="85000"/>
                      </a:schemeClr>
                    </a:solidFill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200" dirty="0"/>
                    </a:p>
                  </p:txBody>
                </p:sp>
              </mc:Choice>
              <mc:Fallback xmlns="">
                <p:sp>
                  <p:nvSpPr>
                    <p:cNvPr id="57" name="TextBox 56">
                      <a:extLst>
                        <a:ext uri="{FF2B5EF4-FFF2-40B4-BE49-F238E27FC236}">
                          <a16:creationId xmlns:a16="http://schemas.microsoft.com/office/drawing/2014/main" id="{3C34B48E-7210-4D46-88FC-64295C3E45C7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563845" y="3922360"/>
                      <a:ext cx="442941" cy="338554"/>
                    </a:xfrm>
                    <a:prstGeom prst="rect">
                      <a:avLst/>
                    </a:prstGeom>
                    <a:blipFill>
                      <a:blip r:embed="rId11"/>
                      <a:stretch>
                        <a:fillRect l="-20000" r="-36000" b="-2400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187" name="Group 186">
                <a:extLst>
                  <a:ext uri="{FF2B5EF4-FFF2-40B4-BE49-F238E27FC236}">
                    <a16:creationId xmlns:a16="http://schemas.microsoft.com/office/drawing/2014/main" id="{9C9DC530-EEB6-D65E-1D23-1639B0E87CA8}"/>
                  </a:ext>
                </a:extLst>
              </p:cNvPr>
              <p:cNvGrpSpPr/>
              <p:nvPr/>
            </p:nvGrpSpPr>
            <p:grpSpPr>
              <a:xfrm>
                <a:off x="3413443" y="3843163"/>
                <a:ext cx="587337" cy="199697"/>
                <a:chOff x="2990003" y="2979563"/>
                <a:chExt cx="587337" cy="199697"/>
              </a:xfrm>
            </p:grpSpPr>
            <p:grpSp>
              <p:nvGrpSpPr>
                <p:cNvPr id="195" name="Group 194">
                  <a:extLst>
                    <a:ext uri="{FF2B5EF4-FFF2-40B4-BE49-F238E27FC236}">
                      <a16:creationId xmlns:a16="http://schemas.microsoft.com/office/drawing/2014/main" id="{7F2157C8-807E-253F-7113-97CF4E60C857}"/>
                    </a:ext>
                  </a:extLst>
                </p:cNvPr>
                <p:cNvGrpSpPr/>
                <p:nvPr/>
              </p:nvGrpSpPr>
              <p:grpSpPr>
                <a:xfrm>
                  <a:off x="3042125" y="2979563"/>
                  <a:ext cx="535215" cy="199697"/>
                  <a:chOff x="2081682" y="3027778"/>
                  <a:chExt cx="535215" cy="199697"/>
                </a:xfrm>
              </p:grpSpPr>
              <p:grpSp>
                <p:nvGrpSpPr>
                  <p:cNvPr id="197" name="Group 196">
                    <a:extLst>
                      <a:ext uri="{FF2B5EF4-FFF2-40B4-BE49-F238E27FC236}">
                        <a16:creationId xmlns:a16="http://schemas.microsoft.com/office/drawing/2014/main" id="{D78C405E-1721-4DC5-830D-3EBD6CE2BD46}"/>
                      </a:ext>
                    </a:extLst>
                  </p:cNvPr>
                  <p:cNvGrpSpPr/>
                  <p:nvPr/>
                </p:nvGrpSpPr>
                <p:grpSpPr>
                  <a:xfrm>
                    <a:off x="2318425" y="3027778"/>
                    <a:ext cx="245603" cy="199697"/>
                    <a:chOff x="599090" y="3023021"/>
                    <a:chExt cx="245603" cy="199697"/>
                  </a:xfrm>
                </p:grpSpPr>
                <p:cxnSp>
                  <p:nvCxnSpPr>
                    <p:cNvPr id="202" name="Straight Connector 201">
                      <a:extLst>
                        <a:ext uri="{FF2B5EF4-FFF2-40B4-BE49-F238E27FC236}">
                          <a16:creationId xmlns:a16="http://schemas.microsoft.com/office/drawing/2014/main" id="{9F95C6F7-ED1B-009A-20AC-1AEC97C825F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599090" y="3023021"/>
                      <a:ext cx="157655" cy="199697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03" name="Straight Connector 202">
                      <a:extLst>
                        <a:ext uri="{FF2B5EF4-FFF2-40B4-BE49-F238E27FC236}">
                          <a16:creationId xmlns:a16="http://schemas.microsoft.com/office/drawing/2014/main" id="{4057F5DB-362A-FC9E-2D8A-BC7D09E7DCAA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 flipV="1">
                      <a:off x="748829" y="3024385"/>
                      <a:ext cx="95864" cy="132413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198" name="Straight Connector 197">
                    <a:extLst>
                      <a:ext uri="{FF2B5EF4-FFF2-40B4-BE49-F238E27FC236}">
                        <a16:creationId xmlns:a16="http://schemas.microsoft.com/office/drawing/2014/main" id="{E23C358C-D236-0B57-2179-1B39737C1B8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557678" y="3161555"/>
                    <a:ext cx="59219" cy="0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199" name="Group 198">
                    <a:extLst>
                      <a:ext uri="{FF2B5EF4-FFF2-40B4-BE49-F238E27FC236}">
                        <a16:creationId xmlns:a16="http://schemas.microsoft.com/office/drawing/2014/main" id="{69B9DC09-D3E4-3F97-6066-5897AE180A03}"/>
                      </a:ext>
                    </a:extLst>
                  </p:cNvPr>
                  <p:cNvGrpSpPr/>
                  <p:nvPr/>
                </p:nvGrpSpPr>
                <p:grpSpPr>
                  <a:xfrm flipH="1">
                    <a:off x="2081682" y="3027778"/>
                    <a:ext cx="245603" cy="199697"/>
                    <a:chOff x="599090" y="3023021"/>
                    <a:chExt cx="245603" cy="199697"/>
                  </a:xfrm>
                </p:grpSpPr>
                <p:cxnSp>
                  <p:nvCxnSpPr>
                    <p:cNvPr id="200" name="Straight Connector 199">
                      <a:extLst>
                        <a:ext uri="{FF2B5EF4-FFF2-40B4-BE49-F238E27FC236}">
                          <a16:creationId xmlns:a16="http://schemas.microsoft.com/office/drawing/2014/main" id="{97F1FE38-5725-DE9C-0B64-8C514ACAC3F7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599090" y="3023021"/>
                      <a:ext cx="157655" cy="199697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01" name="Straight Connector 200">
                      <a:extLst>
                        <a:ext uri="{FF2B5EF4-FFF2-40B4-BE49-F238E27FC236}">
                          <a16:creationId xmlns:a16="http://schemas.microsoft.com/office/drawing/2014/main" id="{B6A52D81-79A9-4AF0-3AEE-BCC79C088DF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 flipV="1">
                      <a:off x="748829" y="3024385"/>
                      <a:ext cx="95864" cy="132413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196" name="Straight Connector 195">
                  <a:extLst>
                    <a:ext uri="{FF2B5EF4-FFF2-40B4-BE49-F238E27FC236}">
                      <a16:creationId xmlns:a16="http://schemas.microsoft.com/office/drawing/2014/main" id="{40ECE03F-221A-810C-A465-6EFC4BBC854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990003" y="3113340"/>
                  <a:ext cx="59219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8" name="Group 187">
                <a:extLst>
                  <a:ext uri="{FF2B5EF4-FFF2-40B4-BE49-F238E27FC236}">
                    <a16:creationId xmlns:a16="http://schemas.microsoft.com/office/drawing/2014/main" id="{2DFCF77D-A031-B8CD-DF51-9DC269C492B6}"/>
                  </a:ext>
                </a:extLst>
              </p:cNvPr>
              <p:cNvGrpSpPr/>
              <p:nvPr/>
            </p:nvGrpSpPr>
            <p:grpSpPr>
              <a:xfrm>
                <a:off x="3409099" y="4121868"/>
                <a:ext cx="422602" cy="291455"/>
                <a:chOff x="1347105" y="2872619"/>
                <a:chExt cx="422602" cy="291455"/>
              </a:xfrm>
            </p:grpSpPr>
            <p:cxnSp>
              <p:nvCxnSpPr>
                <p:cNvPr id="190" name="Straight Connector 189">
                  <a:extLst>
                    <a:ext uri="{FF2B5EF4-FFF2-40B4-BE49-F238E27FC236}">
                      <a16:creationId xmlns:a16="http://schemas.microsoft.com/office/drawing/2014/main" id="{6DAACD4B-8D10-AEFF-89DF-7C3E1DB8CB7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544248" y="2877182"/>
                  <a:ext cx="225459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1" name="Straight Connector 190">
                  <a:extLst>
                    <a:ext uri="{FF2B5EF4-FFF2-40B4-BE49-F238E27FC236}">
                      <a16:creationId xmlns:a16="http://schemas.microsoft.com/office/drawing/2014/main" id="{92822399-F0BF-2D98-5741-F0DE9B1C16E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544248" y="3155537"/>
                  <a:ext cx="225459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2" name="Straight Connector 191">
                  <a:extLst>
                    <a:ext uri="{FF2B5EF4-FFF2-40B4-BE49-F238E27FC236}">
                      <a16:creationId xmlns:a16="http://schemas.microsoft.com/office/drawing/2014/main" id="{18D34B7C-8301-FC2A-13AD-EF78DF1932F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554381" y="2872619"/>
                  <a:ext cx="3" cy="283901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3" name="Straight Connector 192">
                  <a:extLst>
                    <a:ext uri="{FF2B5EF4-FFF2-40B4-BE49-F238E27FC236}">
                      <a16:creationId xmlns:a16="http://schemas.microsoft.com/office/drawing/2014/main" id="{8B9D82EE-6C3A-D740-7C3D-5AC8FDE167F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89273" y="2880173"/>
                  <a:ext cx="3" cy="283901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4" name="Straight Connector 193">
                  <a:extLst>
                    <a:ext uri="{FF2B5EF4-FFF2-40B4-BE49-F238E27FC236}">
                      <a16:creationId xmlns:a16="http://schemas.microsoft.com/office/drawing/2014/main" id="{B61EF12A-FC77-1D19-DA63-67143F85C1C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347105" y="3011953"/>
                  <a:ext cx="207277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89" name="Straight Connector 188">
                <a:extLst>
                  <a:ext uri="{FF2B5EF4-FFF2-40B4-BE49-F238E27FC236}">
                    <a16:creationId xmlns:a16="http://schemas.microsoft.com/office/drawing/2014/main" id="{87D5C805-CD8E-4F48-3EAE-5DCE780D4CB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742976" y="4262000"/>
                <a:ext cx="25221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0E4BA1F6-B97A-67FF-0FB1-25B3ACB9447A}"/>
                    </a:ext>
                  </a:extLst>
                </p:cNvPr>
                <p:cNvSpPr txBox="1"/>
                <p:nvPr/>
              </p:nvSpPr>
              <p:spPr>
                <a:xfrm>
                  <a:off x="2337608" y="2969109"/>
                  <a:ext cx="256414" cy="338554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200" dirty="0"/>
                </a:p>
              </p:txBody>
            </p:sp>
          </mc:Choice>
          <mc:Fallback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0E4BA1F6-B97A-67FF-0FB1-25B3ACB9447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37608" y="2969109"/>
                  <a:ext cx="256414" cy="338554"/>
                </a:xfrm>
                <a:prstGeom prst="rect">
                  <a:avLst/>
                </a:prstGeom>
                <a:blipFill>
                  <a:blip r:embed="rId12"/>
                  <a:stretch>
                    <a:fillRect l="-38095" r="-33333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B39A8B8E-35F7-03CE-F40D-51C84A7F268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7312" y="3340901"/>
              <a:ext cx="136585" cy="17608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DEE271A3-92F6-C3A0-70AF-3BA2D481E86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67039" y="3342104"/>
              <a:ext cx="83052" cy="11675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71E70709-F9F0-89A0-A3A3-F62E4A0A6940}"/>
                </a:ext>
              </a:extLst>
            </p:cNvPr>
            <p:cNvCxnSpPr>
              <a:cxnSpLocks/>
            </p:cNvCxnSpPr>
            <p:nvPr/>
          </p:nvCxnSpPr>
          <p:spPr>
            <a:xfrm>
              <a:off x="1144590" y="3458861"/>
              <a:ext cx="42041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C9C27FB9-E98C-577A-AC99-4D54C39A604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08403" y="3340901"/>
              <a:ext cx="136585" cy="17608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6828ED59-3D9E-A897-B2BE-E095DF4FA37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2209" y="3342104"/>
              <a:ext cx="83052" cy="11675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5D3BA679-B0C5-7E3E-8606-4D248DF8258F}"/>
                </a:ext>
              </a:extLst>
            </p:cNvPr>
            <p:cNvCxnSpPr>
              <a:cxnSpLocks/>
            </p:cNvCxnSpPr>
            <p:nvPr/>
          </p:nvCxnSpPr>
          <p:spPr>
            <a:xfrm>
              <a:off x="687053" y="3458861"/>
              <a:ext cx="42041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B25D7F46-E184-4934-8F75-259EC862DF32}"/>
                    </a:ext>
                  </a:extLst>
                </p:cNvPr>
                <p:cNvSpPr txBox="1"/>
                <p:nvPr/>
              </p:nvSpPr>
              <p:spPr>
                <a:xfrm>
                  <a:off x="849741" y="2974830"/>
                  <a:ext cx="251770" cy="338554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200" dirty="0"/>
                </a:p>
              </p:txBody>
            </p:sp>
          </mc:Choice>
          <mc:Fallback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B25D7F46-E184-4934-8F75-259EC862DF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9741" y="2974830"/>
                  <a:ext cx="251770" cy="338554"/>
                </a:xfrm>
                <a:prstGeom prst="rect">
                  <a:avLst/>
                </a:prstGeom>
                <a:blipFill>
                  <a:blip r:embed="rId13"/>
                  <a:stretch>
                    <a:fillRect l="-38095" r="-28571" b="-148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86B00884-FDA0-E130-7016-D365DCFE90B3}"/>
                    </a:ext>
                  </a:extLst>
                </p:cNvPr>
                <p:cNvSpPr txBox="1"/>
                <p:nvPr/>
              </p:nvSpPr>
              <p:spPr>
                <a:xfrm>
                  <a:off x="977340" y="3730133"/>
                  <a:ext cx="228690" cy="33855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200" dirty="0"/>
                </a:p>
              </p:txBody>
            </p:sp>
          </mc:Choice>
          <mc:Fallback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86B00884-FDA0-E130-7016-D365DCFE90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7340" y="3730133"/>
                  <a:ext cx="228690" cy="338554"/>
                </a:xfrm>
                <a:prstGeom prst="rect">
                  <a:avLst/>
                </a:prstGeom>
                <a:blipFill>
                  <a:blip r:embed="rId14"/>
                  <a:stretch>
                    <a:fillRect l="-20000" r="-30000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B292E66C-3100-9DA7-3A60-D996E6A39F42}"/>
                    </a:ext>
                  </a:extLst>
                </p:cNvPr>
                <p:cNvSpPr txBox="1"/>
                <p:nvPr/>
              </p:nvSpPr>
              <p:spPr>
                <a:xfrm>
                  <a:off x="2297781" y="3737562"/>
                  <a:ext cx="233335" cy="33855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200" dirty="0"/>
                </a:p>
              </p:txBody>
            </p:sp>
          </mc:Choice>
          <mc:Fallback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B292E66C-3100-9DA7-3A60-D996E6A39F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97781" y="3737562"/>
                  <a:ext cx="233335" cy="338554"/>
                </a:xfrm>
                <a:prstGeom prst="rect">
                  <a:avLst/>
                </a:prstGeom>
                <a:blipFill>
                  <a:blip r:embed="rId15"/>
                  <a:stretch>
                    <a:fillRect l="-31579" r="-31579" b="-148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4CA0D9FF-A3CD-F2AE-5ADB-B7258BC77E72}"/>
                </a:ext>
              </a:extLst>
            </p:cNvPr>
            <p:cNvGrpSpPr/>
            <p:nvPr/>
          </p:nvGrpSpPr>
          <p:grpSpPr>
            <a:xfrm>
              <a:off x="3745698" y="2967362"/>
              <a:ext cx="665300" cy="1040672"/>
              <a:chOff x="3893457" y="2727659"/>
              <a:chExt cx="811905" cy="1040672"/>
            </a:xfrm>
          </p:grpSpPr>
          <p:cxnSp>
            <p:nvCxnSpPr>
              <p:cNvPr id="171" name="Straight Connector 170">
                <a:extLst>
                  <a:ext uri="{FF2B5EF4-FFF2-40B4-BE49-F238E27FC236}">
                    <a16:creationId xmlns:a16="http://schemas.microsoft.com/office/drawing/2014/main" id="{4DFC0D07-871C-D73F-4A0F-A9204ADEDAF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298451" y="3068600"/>
                <a:ext cx="136585" cy="176086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Straight Connector 171">
                <a:extLst>
                  <a:ext uri="{FF2B5EF4-FFF2-40B4-BE49-F238E27FC236}">
                    <a16:creationId xmlns:a16="http://schemas.microsoft.com/office/drawing/2014/main" id="{CD001E51-9397-2DB9-58B0-72DCDC38DA5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428178" y="3069803"/>
                <a:ext cx="83052" cy="11675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Straight Connector 172">
                <a:extLst>
                  <a:ext uri="{FF2B5EF4-FFF2-40B4-BE49-F238E27FC236}">
                    <a16:creationId xmlns:a16="http://schemas.microsoft.com/office/drawing/2014/main" id="{D73D9A60-2E28-31AA-1794-1ECA81721EB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169542" y="3068600"/>
                <a:ext cx="136585" cy="176086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Straight Connector 173">
                <a:extLst>
                  <a:ext uri="{FF2B5EF4-FFF2-40B4-BE49-F238E27FC236}">
                    <a16:creationId xmlns:a16="http://schemas.microsoft.com/office/drawing/2014/main" id="{110C9A72-AA10-71FE-3C64-AF9BCAE93E4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093348" y="3069803"/>
                <a:ext cx="83052" cy="11675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5" name="Straight Connector 174">
                <a:extLst>
                  <a:ext uri="{FF2B5EF4-FFF2-40B4-BE49-F238E27FC236}">
                    <a16:creationId xmlns:a16="http://schemas.microsoft.com/office/drawing/2014/main" id="{39188C79-AA9B-CE95-4A0F-01D2C82E5DC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225281" y="3357245"/>
                <a:ext cx="195327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6" name="Straight Connector 175">
                <a:extLst>
                  <a:ext uri="{FF2B5EF4-FFF2-40B4-BE49-F238E27FC236}">
                    <a16:creationId xmlns:a16="http://schemas.microsoft.com/office/drawing/2014/main" id="{44BA97BC-CBC3-248F-32C3-941DEE08A7D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225281" y="3602689"/>
                <a:ext cx="195327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7" name="Straight Connector 176">
                <a:extLst>
                  <a:ext uri="{FF2B5EF4-FFF2-40B4-BE49-F238E27FC236}">
                    <a16:creationId xmlns:a16="http://schemas.microsoft.com/office/drawing/2014/main" id="{AE7AA0F6-4EA3-24E9-4E18-EAADE1555F2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34060" y="3353221"/>
                <a:ext cx="3" cy="25033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8" name="Straight Connector 177">
                <a:extLst>
                  <a:ext uri="{FF2B5EF4-FFF2-40B4-BE49-F238E27FC236}">
                    <a16:creationId xmlns:a16="http://schemas.microsoft.com/office/drawing/2014/main" id="{1599703C-EA15-0C65-34AC-C6043B64C93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50924" y="3359882"/>
                <a:ext cx="3" cy="25033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9" name="Straight Connector 178">
                <a:extLst>
                  <a:ext uri="{FF2B5EF4-FFF2-40B4-BE49-F238E27FC236}">
                    <a16:creationId xmlns:a16="http://schemas.microsoft.com/office/drawing/2014/main" id="{4FCE84BF-2D88-8EAC-63FD-FABE4CA8DD7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893457" y="3476082"/>
                <a:ext cx="340603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0" name="Straight Connector 179">
                <a:extLst>
                  <a:ext uri="{FF2B5EF4-FFF2-40B4-BE49-F238E27FC236}">
                    <a16:creationId xmlns:a16="http://schemas.microsoft.com/office/drawing/2014/main" id="{AA5B844B-CA72-FB04-6BDB-F9F9D025DE0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343741" y="3476082"/>
                <a:ext cx="361621" cy="704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Straight Connector 180">
                <a:extLst>
                  <a:ext uri="{FF2B5EF4-FFF2-40B4-BE49-F238E27FC236}">
                    <a16:creationId xmlns:a16="http://schemas.microsoft.com/office/drawing/2014/main" id="{F8B7D251-3311-B302-D26E-A6045ABFB42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502877" y="3180483"/>
                <a:ext cx="202485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Straight Connector 181">
                <a:extLst>
                  <a:ext uri="{FF2B5EF4-FFF2-40B4-BE49-F238E27FC236}">
                    <a16:creationId xmlns:a16="http://schemas.microsoft.com/office/drawing/2014/main" id="{D5603F88-87A1-1590-C332-07A260F9783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893457" y="3186560"/>
                <a:ext cx="205392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3" name="TextBox 182">
                    <a:extLst>
                      <a:ext uri="{FF2B5EF4-FFF2-40B4-BE49-F238E27FC236}">
                        <a16:creationId xmlns:a16="http://schemas.microsoft.com/office/drawing/2014/main" id="{45A63C9D-1877-B473-5FAD-A58DF771C789}"/>
                      </a:ext>
                    </a:extLst>
                  </p:cNvPr>
                  <p:cNvSpPr txBox="1"/>
                  <p:nvPr/>
                </p:nvSpPr>
                <p:spPr>
                  <a:xfrm>
                    <a:off x="4177742" y="2727659"/>
                    <a:ext cx="312917" cy="298526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US" sz="2200" dirty="0"/>
                  </a:p>
                </p:txBody>
              </p:sp>
            </mc:Choice>
            <mc:Fallback xmlns="">
              <p:sp>
                <p:nvSpPr>
                  <p:cNvPr id="1144" name="TextBox 1143">
                    <a:extLst>
                      <a:ext uri="{FF2B5EF4-FFF2-40B4-BE49-F238E27FC236}">
                        <a16:creationId xmlns:a16="http://schemas.microsoft.com/office/drawing/2014/main" id="{84AE39A2-E3B0-22EF-3B4D-20BCFA7C16D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77742" y="2727659"/>
                    <a:ext cx="312917" cy="298526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 l="-33333" r="-38095" b="-24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4" name="TextBox 183">
                    <a:extLst>
                      <a:ext uri="{FF2B5EF4-FFF2-40B4-BE49-F238E27FC236}">
                        <a16:creationId xmlns:a16="http://schemas.microsoft.com/office/drawing/2014/main" id="{B591251E-322D-F390-7818-EC5DA05322CF}"/>
                      </a:ext>
                    </a:extLst>
                  </p:cNvPr>
                  <p:cNvSpPr txBox="1"/>
                  <p:nvPr/>
                </p:nvSpPr>
                <p:spPr>
                  <a:xfrm>
                    <a:off x="4021374" y="3469805"/>
                    <a:ext cx="284753" cy="298526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US" sz="2200" dirty="0"/>
                  </a:p>
                </p:txBody>
              </p:sp>
            </mc:Choice>
            <mc:Fallback xmlns="">
              <p:sp>
                <p:nvSpPr>
                  <p:cNvPr id="1167" name="TextBox 1166">
                    <a:extLst>
                      <a:ext uri="{FF2B5EF4-FFF2-40B4-BE49-F238E27FC236}">
                        <a16:creationId xmlns:a16="http://schemas.microsoft.com/office/drawing/2014/main" id="{2BED0EA6-DB8C-2E88-82A7-07CA55577F9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021374" y="3469805"/>
                    <a:ext cx="284753" cy="298526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 l="-26316" r="-36842" b="-24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9CF24142-CAF6-EBF2-64F5-AB2D7D7A8B77}"/>
                </a:ext>
              </a:extLst>
            </p:cNvPr>
            <p:cNvGrpSpPr/>
            <p:nvPr/>
          </p:nvGrpSpPr>
          <p:grpSpPr>
            <a:xfrm>
              <a:off x="3116300" y="2750905"/>
              <a:ext cx="495392" cy="570947"/>
              <a:chOff x="3455716" y="2696600"/>
              <a:chExt cx="697817" cy="647503"/>
            </a:xfrm>
          </p:grpSpPr>
          <p:cxnSp>
            <p:nvCxnSpPr>
              <p:cNvPr id="168" name="Straight Connector 167">
                <a:extLst>
                  <a:ext uri="{FF2B5EF4-FFF2-40B4-BE49-F238E27FC236}">
                    <a16:creationId xmlns:a16="http://schemas.microsoft.com/office/drawing/2014/main" id="{DEA9EE88-62D5-75C6-D101-13F0322C5E4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455716" y="3103310"/>
                <a:ext cx="0" cy="240793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Straight Arrow Connector 168">
                <a:extLst>
                  <a:ext uri="{FF2B5EF4-FFF2-40B4-BE49-F238E27FC236}">
                    <a16:creationId xmlns:a16="http://schemas.microsoft.com/office/drawing/2014/main" id="{0184AF9B-36EB-0A10-4374-99A6DAEBB223}"/>
                  </a:ext>
                </a:extLst>
              </p:cNvPr>
              <p:cNvCxnSpPr/>
              <p:nvPr/>
            </p:nvCxnSpPr>
            <p:spPr>
              <a:xfrm>
                <a:off x="3455716" y="3104282"/>
                <a:ext cx="528468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0" name="TextBox 169">
                    <a:extLst>
                      <a:ext uri="{FF2B5EF4-FFF2-40B4-BE49-F238E27FC236}">
                        <a16:creationId xmlns:a16="http://schemas.microsoft.com/office/drawing/2014/main" id="{35A79612-108A-374B-2AF3-00860EF8E588}"/>
                      </a:ext>
                    </a:extLst>
                  </p:cNvPr>
                  <p:cNvSpPr txBox="1"/>
                  <p:nvPr/>
                </p:nvSpPr>
                <p:spPr>
                  <a:xfrm>
                    <a:off x="3563821" y="2696600"/>
                    <a:ext cx="589712" cy="33855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lang="en-US" sz="2200" b="0" i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sz="2200" b="0" i="0" smtClean="0"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n-US" sz="2200" b="0" i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US" sz="2200" dirty="0"/>
                  </a:p>
                </p:txBody>
              </p:sp>
            </mc:Choice>
            <mc:Fallback xmlns="">
              <p:sp>
                <p:nvSpPr>
                  <p:cNvPr id="1192" name="TextBox 1191">
                    <a:extLst>
                      <a:ext uri="{FF2B5EF4-FFF2-40B4-BE49-F238E27FC236}">
                        <a16:creationId xmlns:a16="http://schemas.microsoft.com/office/drawing/2014/main" id="{F66DB4C6-2DCA-B35B-F6C5-0FEDA291716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563821" y="2696600"/>
                    <a:ext cx="589712" cy="338554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 l="-20588" t="-8333" r="-52941" b="-541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999CAD39-F67B-2ABE-E83B-7EBC19564999}"/>
                </a:ext>
              </a:extLst>
            </p:cNvPr>
            <p:cNvGrpSpPr/>
            <p:nvPr/>
          </p:nvGrpSpPr>
          <p:grpSpPr>
            <a:xfrm>
              <a:off x="4397803" y="2731521"/>
              <a:ext cx="1058729" cy="1330282"/>
              <a:chOff x="5074117" y="2483694"/>
              <a:chExt cx="1292030" cy="1330282"/>
            </a:xfrm>
          </p:grpSpPr>
          <p:grpSp>
            <p:nvGrpSpPr>
              <p:cNvPr id="141" name="Group 140">
                <a:extLst>
                  <a:ext uri="{FF2B5EF4-FFF2-40B4-BE49-F238E27FC236}">
                    <a16:creationId xmlns:a16="http://schemas.microsoft.com/office/drawing/2014/main" id="{CE822F21-6CA0-4059-386C-E890FFD2BA93}"/>
                  </a:ext>
                </a:extLst>
              </p:cNvPr>
              <p:cNvGrpSpPr/>
              <p:nvPr/>
            </p:nvGrpSpPr>
            <p:grpSpPr>
              <a:xfrm>
                <a:off x="5074117" y="3047166"/>
                <a:ext cx="1292030" cy="766810"/>
                <a:chOff x="2025545" y="3818857"/>
                <a:chExt cx="1491343" cy="869628"/>
              </a:xfrm>
            </p:grpSpPr>
            <p:sp>
              <p:nvSpPr>
                <p:cNvPr id="164" name="Rectangle 163">
                  <a:extLst>
                    <a:ext uri="{FF2B5EF4-FFF2-40B4-BE49-F238E27FC236}">
                      <a16:creationId xmlns:a16="http://schemas.microsoft.com/office/drawing/2014/main" id="{7F614C3A-416A-26AB-D003-F91DD820EEBC}"/>
                    </a:ext>
                  </a:extLst>
                </p:cNvPr>
                <p:cNvSpPr/>
                <p:nvPr/>
              </p:nvSpPr>
              <p:spPr>
                <a:xfrm>
                  <a:off x="2025545" y="3818857"/>
                  <a:ext cx="1491343" cy="603926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200"/>
                </a:p>
              </p:txBody>
            </p:sp>
            <p:sp>
              <p:nvSpPr>
                <p:cNvPr id="165" name="Oval 164">
                  <a:extLst>
                    <a:ext uri="{FF2B5EF4-FFF2-40B4-BE49-F238E27FC236}">
                      <a16:creationId xmlns:a16="http://schemas.microsoft.com/office/drawing/2014/main" id="{64DFA9FA-7132-C5F5-FE4A-5AB43FA2DF0C}"/>
                    </a:ext>
                  </a:extLst>
                </p:cNvPr>
                <p:cNvSpPr/>
                <p:nvPr/>
              </p:nvSpPr>
              <p:spPr>
                <a:xfrm>
                  <a:off x="2273226" y="4438114"/>
                  <a:ext cx="254202" cy="250371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200"/>
                </a:p>
              </p:txBody>
            </p:sp>
            <p:sp>
              <p:nvSpPr>
                <p:cNvPr id="166" name="Oval 165">
                  <a:extLst>
                    <a:ext uri="{FF2B5EF4-FFF2-40B4-BE49-F238E27FC236}">
                      <a16:creationId xmlns:a16="http://schemas.microsoft.com/office/drawing/2014/main" id="{3B2A3F43-9D14-CAC2-7995-7FA217CB69D8}"/>
                    </a:ext>
                  </a:extLst>
                </p:cNvPr>
                <p:cNvSpPr/>
                <p:nvPr/>
              </p:nvSpPr>
              <p:spPr>
                <a:xfrm>
                  <a:off x="3004511" y="4438114"/>
                  <a:ext cx="254202" cy="250371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200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67" name="TextBox 166">
                      <a:extLst>
                        <a:ext uri="{FF2B5EF4-FFF2-40B4-BE49-F238E27FC236}">
                          <a16:creationId xmlns:a16="http://schemas.microsoft.com/office/drawing/2014/main" id="{264446FD-672F-16D1-CE11-BC95DB42ACC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548856" y="3907369"/>
                      <a:ext cx="442941" cy="338554"/>
                    </a:xfrm>
                    <a:prstGeom prst="rect">
                      <a:avLst/>
                    </a:prstGeom>
                    <a:solidFill>
                      <a:schemeClr val="bg1">
                        <a:lumMod val="85000"/>
                      </a:schemeClr>
                    </a:solidFill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200" dirty="0"/>
                    </a:p>
                  </p:txBody>
                </p:sp>
              </mc:Choice>
              <mc:Fallback xmlns="">
                <p:sp>
                  <p:nvSpPr>
                    <p:cNvPr id="1110" name="TextBox 1109">
                      <a:extLst>
                        <a:ext uri="{FF2B5EF4-FFF2-40B4-BE49-F238E27FC236}">
                          <a16:creationId xmlns:a16="http://schemas.microsoft.com/office/drawing/2014/main" id="{EE267B20-5A8C-BE1D-2364-39D9A4003A0E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548856" y="3907369"/>
                      <a:ext cx="442941" cy="338554"/>
                    </a:xfrm>
                    <a:prstGeom prst="rect">
                      <a:avLst/>
                    </a:prstGeom>
                    <a:blipFill>
                      <a:blip r:embed="rId19"/>
                      <a:stretch>
                        <a:fillRect l="-24000" r="-36000" b="-2916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133" name="Group 132">
                <a:extLst>
                  <a:ext uri="{FF2B5EF4-FFF2-40B4-BE49-F238E27FC236}">
                    <a16:creationId xmlns:a16="http://schemas.microsoft.com/office/drawing/2014/main" id="{F7504DC3-EEE5-D0A5-32C3-B7AEB69A5CA2}"/>
                  </a:ext>
                </a:extLst>
              </p:cNvPr>
              <p:cNvGrpSpPr/>
              <p:nvPr/>
            </p:nvGrpSpPr>
            <p:grpSpPr>
              <a:xfrm>
                <a:off x="5613151" y="2483694"/>
                <a:ext cx="510899" cy="553726"/>
                <a:chOff x="3187647" y="2708561"/>
                <a:chExt cx="589712" cy="627972"/>
              </a:xfrm>
            </p:grpSpPr>
            <p:cxnSp>
              <p:nvCxnSpPr>
                <p:cNvPr id="138" name="Straight Connector 137">
                  <a:extLst>
                    <a:ext uri="{FF2B5EF4-FFF2-40B4-BE49-F238E27FC236}">
                      <a16:creationId xmlns:a16="http://schemas.microsoft.com/office/drawing/2014/main" id="{6339F8D5-5FFD-8C11-E835-C6441431E89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239302" y="3095740"/>
                  <a:ext cx="0" cy="240793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9" name="Straight Arrow Connector 138">
                  <a:extLst>
                    <a:ext uri="{FF2B5EF4-FFF2-40B4-BE49-F238E27FC236}">
                      <a16:creationId xmlns:a16="http://schemas.microsoft.com/office/drawing/2014/main" id="{43A88A55-6893-FBA9-0C8C-BDF70644D2DF}"/>
                    </a:ext>
                  </a:extLst>
                </p:cNvPr>
                <p:cNvCxnSpPr/>
                <p:nvPr/>
              </p:nvCxnSpPr>
              <p:spPr>
                <a:xfrm>
                  <a:off x="3228416" y="3095740"/>
                  <a:ext cx="528467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40" name="TextBox 139">
                      <a:extLst>
                        <a:ext uri="{FF2B5EF4-FFF2-40B4-BE49-F238E27FC236}">
                          <a16:creationId xmlns:a16="http://schemas.microsoft.com/office/drawing/2014/main" id="{4BEDBCC1-7492-F64F-F61B-880DFD9CF23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187647" y="2708561"/>
                      <a:ext cx="589712" cy="338554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  <m:r>
                              <a:rPr lang="en-US" sz="2200" b="0" i="0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m:rPr>
                                <m:sty m:val="p"/>
                              </m:rPr>
                              <a:rPr lang="en-US" sz="2200" b="0" i="0" smtClean="0">
                                <a:latin typeface="Cambria Math" panose="02040503050406030204" pitchFamily="18" charset="0"/>
                              </a:rPr>
                              <m:t>t</m:t>
                            </m:r>
                            <m:r>
                              <a:rPr lang="en-US" sz="2200" b="0" i="0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oMath>
                        </m:oMathPara>
                      </a14:m>
                      <a:endParaRPr lang="en-US" sz="2200" dirty="0"/>
                    </a:p>
                  </p:txBody>
                </p:sp>
              </mc:Choice>
              <mc:Fallback xmlns="">
                <p:sp>
                  <p:nvSpPr>
                    <p:cNvPr id="1196" name="TextBox 1195">
                      <a:extLst>
                        <a:ext uri="{FF2B5EF4-FFF2-40B4-BE49-F238E27FC236}">
                          <a16:creationId xmlns:a16="http://schemas.microsoft.com/office/drawing/2014/main" id="{AC9F8653-97EF-86DC-83BD-2D1D162715C3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187647" y="2708561"/>
                      <a:ext cx="589712" cy="338554"/>
                    </a:xfrm>
                    <a:prstGeom prst="rect">
                      <a:avLst/>
                    </a:prstGeom>
                    <a:blipFill>
                      <a:blip r:embed="rId20"/>
                      <a:stretch>
                        <a:fillRect l="-23529" t="-4000" r="-52941" b="-4800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F1574160-9CAF-34BA-552C-C24120CB9AE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6634" y="2755458"/>
              <a:ext cx="24242" cy="1346972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1545B4C8-2242-C65F-5CD1-121C01F8DFA5}"/>
                </a:ext>
              </a:extLst>
            </p:cNvPr>
            <p:cNvGrpSpPr/>
            <p:nvPr/>
          </p:nvGrpSpPr>
          <p:grpSpPr>
            <a:xfrm>
              <a:off x="693930" y="3593393"/>
              <a:ext cx="492701" cy="256996"/>
              <a:chOff x="373313" y="4531336"/>
              <a:chExt cx="492701" cy="256996"/>
            </a:xfrm>
          </p:grpSpPr>
          <p:cxnSp>
            <p:nvCxnSpPr>
              <p:cNvPr id="123" name="Straight Connector 122">
                <a:extLst>
                  <a:ext uri="{FF2B5EF4-FFF2-40B4-BE49-F238E27FC236}">
                    <a16:creationId xmlns:a16="http://schemas.microsoft.com/office/drawing/2014/main" id="{609D95E4-B6DE-6CDF-8185-7016076C26C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13268" y="4535360"/>
                <a:ext cx="160057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Straight Connector 123">
                <a:extLst>
                  <a:ext uri="{FF2B5EF4-FFF2-40B4-BE49-F238E27FC236}">
                    <a16:creationId xmlns:a16="http://schemas.microsoft.com/office/drawing/2014/main" id="{9411292E-3D3E-E26A-A8C5-52FC9141464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13268" y="4780804"/>
                <a:ext cx="160057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Straight Connector 124">
                <a:extLst>
                  <a:ext uri="{FF2B5EF4-FFF2-40B4-BE49-F238E27FC236}">
                    <a16:creationId xmlns:a16="http://schemas.microsoft.com/office/drawing/2014/main" id="{18250BCF-7AA3-069F-9B79-A5F3911A4C4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0462" y="4531336"/>
                <a:ext cx="2" cy="25033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" name="Straight Connector 125">
                <a:extLst>
                  <a:ext uri="{FF2B5EF4-FFF2-40B4-BE49-F238E27FC236}">
                    <a16:creationId xmlns:a16="http://schemas.microsoft.com/office/drawing/2014/main" id="{7CA06D97-0F52-5214-6370-A39B6EF2497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16224" y="4537997"/>
                <a:ext cx="2" cy="25033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Straight Connector 126">
                <a:extLst>
                  <a:ext uri="{FF2B5EF4-FFF2-40B4-BE49-F238E27FC236}">
                    <a16:creationId xmlns:a16="http://schemas.microsoft.com/office/drawing/2014/main" id="{519DC250-3B0A-5F69-D920-EBACE9602C0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73313" y="4654196"/>
                <a:ext cx="147149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8" name="Straight Connector 127">
                <a:extLst>
                  <a:ext uri="{FF2B5EF4-FFF2-40B4-BE49-F238E27FC236}">
                    <a16:creationId xmlns:a16="http://schemas.microsoft.com/office/drawing/2014/main" id="{91143656-6A57-FF33-9B0E-FFD80CE5337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0337" y="4654196"/>
                <a:ext cx="255677" cy="703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5002614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8BC268-AF24-A4F9-280B-C97136276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FA513-38F3-D0EB-C0D1-66B8D96C4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Governing equation for a 3-DoF system</a:t>
            </a:r>
          </a:p>
        </p:txBody>
      </p:sp>
      <p:grpSp>
        <p:nvGrpSpPr>
          <p:cNvPr id="218" name="Group 217">
            <a:extLst>
              <a:ext uri="{FF2B5EF4-FFF2-40B4-BE49-F238E27FC236}">
                <a16:creationId xmlns:a16="http://schemas.microsoft.com/office/drawing/2014/main" id="{FAF6917B-1B0B-6FC4-A542-99CB55E64007}"/>
              </a:ext>
            </a:extLst>
          </p:cNvPr>
          <p:cNvGrpSpPr/>
          <p:nvPr/>
        </p:nvGrpSpPr>
        <p:grpSpPr>
          <a:xfrm>
            <a:off x="6678876" y="4414053"/>
            <a:ext cx="5265126" cy="1370909"/>
            <a:chOff x="666634" y="2731521"/>
            <a:chExt cx="5265126" cy="1370909"/>
          </a:xfrm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76A1D343-49E6-B182-8A44-5A562245EEBB}"/>
                </a:ext>
              </a:extLst>
            </p:cNvPr>
            <p:cNvGrpSpPr/>
            <p:nvPr/>
          </p:nvGrpSpPr>
          <p:grpSpPr>
            <a:xfrm>
              <a:off x="1499110" y="2772184"/>
              <a:ext cx="418646" cy="568718"/>
              <a:chOff x="3200271" y="2691559"/>
              <a:chExt cx="589712" cy="644974"/>
            </a:xfrm>
          </p:grpSpPr>
          <p:cxnSp>
            <p:nvCxnSpPr>
              <p:cNvPr id="212" name="Straight Connector 211">
                <a:extLst>
                  <a:ext uri="{FF2B5EF4-FFF2-40B4-BE49-F238E27FC236}">
                    <a16:creationId xmlns:a16="http://schemas.microsoft.com/office/drawing/2014/main" id="{3E5C5413-49FF-472C-BD9C-94B7264BA05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239302" y="3095740"/>
                <a:ext cx="0" cy="240793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3" name="Straight Arrow Connector 212">
                <a:extLst>
                  <a:ext uri="{FF2B5EF4-FFF2-40B4-BE49-F238E27FC236}">
                    <a16:creationId xmlns:a16="http://schemas.microsoft.com/office/drawing/2014/main" id="{823E0CE2-4109-481C-ECE4-42FADD61F755}"/>
                  </a:ext>
                </a:extLst>
              </p:cNvPr>
              <p:cNvCxnSpPr/>
              <p:nvPr/>
            </p:nvCxnSpPr>
            <p:spPr>
              <a:xfrm>
                <a:off x="3228416" y="3095740"/>
                <a:ext cx="528467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14" name="TextBox 213">
                    <a:extLst>
                      <a:ext uri="{FF2B5EF4-FFF2-40B4-BE49-F238E27FC236}">
                        <a16:creationId xmlns:a16="http://schemas.microsoft.com/office/drawing/2014/main" id="{2443D87C-263F-87A7-EFA1-766841438DDF}"/>
                      </a:ext>
                    </a:extLst>
                  </p:cNvPr>
                  <p:cNvSpPr txBox="1"/>
                  <p:nvPr/>
                </p:nvSpPr>
                <p:spPr>
                  <a:xfrm>
                    <a:off x="3200271" y="2691559"/>
                    <a:ext cx="589712" cy="338553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lang="en-US" sz="2200" b="0" i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sz="2200" b="0" i="0" smtClean="0"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n-US" sz="2200" b="0" i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US" sz="2200" dirty="0"/>
                  </a:p>
                </p:txBody>
              </p:sp>
            </mc:Choice>
            <mc:Fallback>
              <p:sp>
                <p:nvSpPr>
                  <p:cNvPr id="214" name="TextBox 213">
                    <a:extLst>
                      <a:ext uri="{FF2B5EF4-FFF2-40B4-BE49-F238E27FC236}">
                        <a16:creationId xmlns:a16="http://schemas.microsoft.com/office/drawing/2014/main" id="{2443D87C-263F-87A7-EFA1-766841438DD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00271" y="2691559"/>
                    <a:ext cx="589712" cy="338553"/>
                  </a:xfrm>
                  <a:prstGeom prst="rect">
                    <a:avLst/>
                  </a:prstGeom>
                  <a:blipFill>
                    <a:blip r:embed="rId2"/>
                    <a:stretch>
                      <a:fillRect l="-23529" t="-4000" r="-52941" b="-48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006817D5-291F-9E7D-0FE7-2916FDBDC73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6512" y="4084068"/>
              <a:ext cx="5245248" cy="18362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F11D3824-9E7B-5CB6-BE24-F40D86D09FE4}"/>
                </a:ext>
              </a:extLst>
            </p:cNvPr>
            <p:cNvGrpSpPr/>
            <p:nvPr/>
          </p:nvGrpSpPr>
          <p:grpSpPr>
            <a:xfrm>
              <a:off x="1197282" y="3310664"/>
              <a:ext cx="2533530" cy="761012"/>
              <a:chOff x="1917756" y="3817808"/>
              <a:chExt cx="3568773" cy="863052"/>
            </a:xfrm>
          </p:grpSpPr>
          <p:grpSp>
            <p:nvGrpSpPr>
              <p:cNvPr id="185" name="Group 184">
                <a:extLst>
                  <a:ext uri="{FF2B5EF4-FFF2-40B4-BE49-F238E27FC236}">
                    <a16:creationId xmlns:a16="http://schemas.microsoft.com/office/drawing/2014/main" id="{46EB3AFA-72B4-5DF7-5196-02E93C6A7788}"/>
                  </a:ext>
                </a:extLst>
              </p:cNvPr>
              <p:cNvGrpSpPr/>
              <p:nvPr/>
            </p:nvGrpSpPr>
            <p:grpSpPr>
              <a:xfrm>
                <a:off x="1917756" y="3818858"/>
                <a:ext cx="1491343" cy="862002"/>
                <a:chOff x="2025545" y="3818857"/>
                <a:chExt cx="1491343" cy="862002"/>
              </a:xfrm>
            </p:grpSpPr>
            <p:sp>
              <p:nvSpPr>
                <p:cNvPr id="208" name="Rectangle 207">
                  <a:extLst>
                    <a:ext uri="{FF2B5EF4-FFF2-40B4-BE49-F238E27FC236}">
                      <a16:creationId xmlns:a16="http://schemas.microsoft.com/office/drawing/2014/main" id="{42C49B0F-FB65-291A-3CB0-A99EB394E1B5}"/>
                    </a:ext>
                  </a:extLst>
                </p:cNvPr>
                <p:cNvSpPr/>
                <p:nvPr/>
              </p:nvSpPr>
              <p:spPr>
                <a:xfrm>
                  <a:off x="2025545" y="3818857"/>
                  <a:ext cx="1491343" cy="603926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200"/>
                </a:p>
              </p:txBody>
            </p:sp>
            <p:sp>
              <p:nvSpPr>
                <p:cNvPr id="209" name="Oval 208">
                  <a:extLst>
                    <a:ext uri="{FF2B5EF4-FFF2-40B4-BE49-F238E27FC236}">
                      <a16:creationId xmlns:a16="http://schemas.microsoft.com/office/drawing/2014/main" id="{EA419EE6-706F-72AF-0118-86F91C72F052}"/>
                    </a:ext>
                  </a:extLst>
                </p:cNvPr>
                <p:cNvSpPr/>
                <p:nvPr/>
              </p:nvSpPr>
              <p:spPr>
                <a:xfrm>
                  <a:off x="2273226" y="4430488"/>
                  <a:ext cx="254202" cy="250371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200"/>
                </a:p>
              </p:txBody>
            </p:sp>
            <p:sp>
              <p:nvSpPr>
                <p:cNvPr id="210" name="Oval 209">
                  <a:extLst>
                    <a:ext uri="{FF2B5EF4-FFF2-40B4-BE49-F238E27FC236}">
                      <a16:creationId xmlns:a16="http://schemas.microsoft.com/office/drawing/2014/main" id="{7158C8A6-79FA-99A6-4FD5-6BCAD7B30B89}"/>
                    </a:ext>
                  </a:extLst>
                </p:cNvPr>
                <p:cNvSpPr/>
                <p:nvPr/>
              </p:nvSpPr>
              <p:spPr>
                <a:xfrm>
                  <a:off x="3004511" y="4430488"/>
                  <a:ext cx="254202" cy="250371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200"/>
                </a:p>
              </p:txBody>
            </p: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211" name="TextBox 210">
                      <a:extLst>
                        <a:ext uri="{FF2B5EF4-FFF2-40B4-BE49-F238E27FC236}">
                          <a16:creationId xmlns:a16="http://schemas.microsoft.com/office/drawing/2014/main" id="{CCEAB15C-5CF6-CB81-5BC8-9B1261AF574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578835" y="3907369"/>
                      <a:ext cx="436402" cy="338554"/>
                    </a:xfrm>
                    <a:prstGeom prst="rect">
                      <a:avLst/>
                    </a:prstGeom>
                    <a:solidFill>
                      <a:schemeClr val="bg1">
                        <a:lumMod val="85000"/>
                      </a:schemeClr>
                    </a:solidFill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200" dirty="0"/>
                    </a:p>
                  </p:txBody>
                </p:sp>
              </mc:Choice>
              <mc:Fallback>
                <p:sp>
                  <p:nvSpPr>
                    <p:cNvPr id="211" name="TextBox 210">
                      <a:extLst>
                        <a:ext uri="{FF2B5EF4-FFF2-40B4-BE49-F238E27FC236}">
                          <a16:creationId xmlns:a16="http://schemas.microsoft.com/office/drawing/2014/main" id="{CCEAB15C-5CF6-CB81-5BC8-9B1261AF574B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578835" y="3907369"/>
                      <a:ext cx="436402" cy="338554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 l="-19231" r="-30769" b="-2916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186" name="Group 185">
                <a:extLst>
                  <a:ext uri="{FF2B5EF4-FFF2-40B4-BE49-F238E27FC236}">
                    <a16:creationId xmlns:a16="http://schemas.microsoft.com/office/drawing/2014/main" id="{322551FC-C71E-3BA3-D64E-C31117FD7193}"/>
                  </a:ext>
                </a:extLst>
              </p:cNvPr>
              <p:cNvGrpSpPr/>
              <p:nvPr/>
            </p:nvGrpSpPr>
            <p:grpSpPr>
              <a:xfrm>
                <a:off x="3995186" y="3817808"/>
                <a:ext cx="1491343" cy="862002"/>
                <a:chOff x="2025545" y="3818857"/>
                <a:chExt cx="1491343" cy="862002"/>
              </a:xfrm>
            </p:grpSpPr>
            <p:sp>
              <p:nvSpPr>
                <p:cNvPr id="204" name="Rectangle 203">
                  <a:extLst>
                    <a:ext uri="{FF2B5EF4-FFF2-40B4-BE49-F238E27FC236}">
                      <a16:creationId xmlns:a16="http://schemas.microsoft.com/office/drawing/2014/main" id="{16C36E45-C463-1ACD-1697-A61EBA604653}"/>
                    </a:ext>
                  </a:extLst>
                </p:cNvPr>
                <p:cNvSpPr/>
                <p:nvPr/>
              </p:nvSpPr>
              <p:spPr>
                <a:xfrm>
                  <a:off x="2025545" y="3818857"/>
                  <a:ext cx="1491343" cy="603926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200"/>
                </a:p>
              </p:txBody>
            </p:sp>
            <p:sp>
              <p:nvSpPr>
                <p:cNvPr id="205" name="Oval 204">
                  <a:extLst>
                    <a:ext uri="{FF2B5EF4-FFF2-40B4-BE49-F238E27FC236}">
                      <a16:creationId xmlns:a16="http://schemas.microsoft.com/office/drawing/2014/main" id="{27993BC3-FD0D-62DC-ED47-76E156337DDD}"/>
                    </a:ext>
                  </a:extLst>
                </p:cNvPr>
                <p:cNvSpPr/>
                <p:nvPr/>
              </p:nvSpPr>
              <p:spPr>
                <a:xfrm>
                  <a:off x="2273226" y="4430488"/>
                  <a:ext cx="254202" cy="250371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200"/>
                </a:p>
              </p:txBody>
            </p:sp>
            <p:sp>
              <p:nvSpPr>
                <p:cNvPr id="206" name="Oval 205">
                  <a:extLst>
                    <a:ext uri="{FF2B5EF4-FFF2-40B4-BE49-F238E27FC236}">
                      <a16:creationId xmlns:a16="http://schemas.microsoft.com/office/drawing/2014/main" id="{079157B4-91B7-0ADC-28CB-860E46A9EBF6}"/>
                    </a:ext>
                  </a:extLst>
                </p:cNvPr>
                <p:cNvSpPr/>
                <p:nvPr/>
              </p:nvSpPr>
              <p:spPr>
                <a:xfrm>
                  <a:off x="3004511" y="4430488"/>
                  <a:ext cx="254202" cy="250371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200"/>
                </a:p>
              </p:txBody>
            </p: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207" name="TextBox 206">
                      <a:extLst>
                        <a:ext uri="{FF2B5EF4-FFF2-40B4-BE49-F238E27FC236}">
                          <a16:creationId xmlns:a16="http://schemas.microsoft.com/office/drawing/2014/main" id="{C94C6D6D-D91D-6D00-9AED-5DAEE32888B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563845" y="3922360"/>
                      <a:ext cx="442941" cy="338554"/>
                    </a:xfrm>
                    <a:prstGeom prst="rect">
                      <a:avLst/>
                    </a:prstGeom>
                    <a:solidFill>
                      <a:schemeClr val="bg1">
                        <a:lumMod val="85000"/>
                      </a:schemeClr>
                    </a:solidFill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200" dirty="0"/>
                    </a:p>
                  </p:txBody>
                </p:sp>
              </mc:Choice>
              <mc:Fallback>
                <p:sp>
                  <p:nvSpPr>
                    <p:cNvPr id="207" name="TextBox 206">
                      <a:extLst>
                        <a:ext uri="{FF2B5EF4-FFF2-40B4-BE49-F238E27FC236}">
                          <a16:creationId xmlns:a16="http://schemas.microsoft.com/office/drawing/2014/main" id="{C94C6D6D-D91D-6D00-9AED-5DAEE32888B4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563845" y="3922360"/>
                      <a:ext cx="442941" cy="338554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 l="-19231" r="-34615" b="-2916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187" name="Group 186">
                <a:extLst>
                  <a:ext uri="{FF2B5EF4-FFF2-40B4-BE49-F238E27FC236}">
                    <a16:creationId xmlns:a16="http://schemas.microsoft.com/office/drawing/2014/main" id="{5ABDE08E-32B7-A5EE-A5AF-E0F6D84F0796}"/>
                  </a:ext>
                </a:extLst>
              </p:cNvPr>
              <p:cNvGrpSpPr/>
              <p:nvPr/>
            </p:nvGrpSpPr>
            <p:grpSpPr>
              <a:xfrm>
                <a:off x="3413443" y="3843163"/>
                <a:ext cx="587337" cy="199697"/>
                <a:chOff x="2990003" y="2979563"/>
                <a:chExt cx="587337" cy="199697"/>
              </a:xfrm>
            </p:grpSpPr>
            <p:grpSp>
              <p:nvGrpSpPr>
                <p:cNvPr id="195" name="Group 194">
                  <a:extLst>
                    <a:ext uri="{FF2B5EF4-FFF2-40B4-BE49-F238E27FC236}">
                      <a16:creationId xmlns:a16="http://schemas.microsoft.com/office/drawing/2014/main" id="{AEBE98CD-CAA0-1A00-4709-918956F8F602}"/>
                    </a:ext>
                  </a:extLst>
                </p:cNvPr>
                <p:cNvGrpSpPr/>
                <p:nvPr/>
              </p:nvGrpSpPr>
              <p:grpSpPr>
                <a:xfrm>
                  <a:off x="3042125" y="2979563"/>
                  <a:ext cx="535215" cy="199697"/>
                  <a:chOff x="2081682" y="3027778"/>
                  <a:chExt cx="535215" cy="199697"/>
                </a:xfrm>
              </p:grpSpPr>
              <p:grpSp>
                <p:nvGrpSpPr>
                  <p:cNvPr id="197" name="Group 196">
                    <a:extLst>
                      <a:ext uri="{FF2B5EF4-FFF2-40B4-BE49-F238E27FC236}">
                        <a16:creationId xmlns:a16="http://schemas.microsoft.com/office/drawing/2014/main" id="{97E349F1-F6E2-571B-8D8E-C79151B4268F}"/>
                      </a:ext>
                    </a:extLst>
                  </p:cNvPr>
                  <p:cNvGrpSpPr/>
                  <p:nvPr/>
                </p:nvGrpSpPr>
                <p:grpSpPr>
                  <a:xfrm>
                    <a:off x="2318425" y="3027778"/>
                    <a:ext cx="245603" cy="199697"/>
                    <a:chOff x="599090" y="3023021"/>
                    <a:chExt cx="245603" cy="199697"/>
                  </a:xfrm>
                </p:grpSpPr>
                <p:cxnSp>
                  <p:nvCxnSpPr>
                    <p:cNvPr id="202" name="Straight Connector 201">
                      <a:extLst>
                        <a:ext uri="{FF2B5EF4-FFF2-40B4-BE49-F238E27FC236}">
                          <a16:creationId xmlns:a16="http://schemas.microsoft.com/office/drawing/2014/main" id="{5BED4D54-22AD-55EB-37BB-1EC1C65987B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599090" y="3023021"/>
                      <a:ext cx="157655" cy="199697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03" name="Straight Connector 202">
                      <a:extLst>
                        <a:ext uri="{FF2B5EF4-FFF2-40B4-BE49-F238E27FC236}">
                          <a16:creationId xmlns:a16="http://schemas.microsoft.com/office/drawing/2014/main" id="{D5CF3BCE-EBF0-621F-66EB-1BC81E86CF9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 flipV="1">
                      <a:off x="748829" y="3024385"/>
                      <a:ext cx="95864" cy="132413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198" name="Straight Connector 197">
                    <a:extLst>
                      <a:ext uri="{FF2B5EF4-FFF2-40B4-BE49-F238E27FC236}">
                        <a16:creationId xmlns:a16="http://schemas.microsoft.com/office/drawing/2014/main" id="{55739710-7660-7A91-90E4-C067675911D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557678" y="3161555"/>
                    <a:ext cx="59219" cy="0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199" name="Group 198">
                    <a:extLst>
                      <a:ext uri="{FF2B5EF4-FFF2-40B4-BE49-F238E27FC236}">
                        <a16:creationId xmlns:a16="http://schemas.microsoft.com/office/drawing/2014/main" id="{F81EABE8-1159-B8C7-C2D6-8267BDBBECA3}"/>
                      </a:ext>
                    </a:extLst>
                  </p:cNvPr>
                  <p:cNvGrpSpPr/>
                  <p:nvPr/>
                </p:nvGrpSpPr>
                <p:grpSpPr>
                  <a:xfrm flipH="1">
                    <a:off x="2081682" y="3027778"/>
                    <a:ext cx="245603" cy="199697"/>
                    <a:chOff x="599090" y="3023021"/>
                    <a:chExt cx="245603" cy="199697"/>
                  </a:xfrm>
                </p:grpSpPr>
                <p:cxnSp>
                  <p:nvCxnSpPr>
                    <p:cNvPr id="200" name="Straight Connector 199">
                      <a:extLst>
                        <a:ext uri="{FF2B5EF4-FFF2-40B4-BE49-F238E27FC236}">
                          <a16:creationId xmlns:a16="http://schemas.microsoft.com/office/drawing/2014/main" id="{E1537519-FA3F-6059-F2FB-D034F27682FC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599090" y="3023021"/>
                      <a:ext cx="157655" cy="199697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01" name="Straight Connector 200">
                      <a:extLst>
                        <a:ext uri="{FF2B5EF4-FFF2-40B4-BE49-F238E27FC236}">
                          <a16:creationId xmlns:a16="http://schemas.microsoft.com/office/drawing/2014/main" id="{EE4D1548-EB7C-D849-380D-C949E60B4E0E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 flipV="1">
                      <a:off x="748829" y="3024385"/>
                      <a:ext cx="95864" cy="132413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196" name="Straight Connector 195">
                  <a:extLst>
                    <a:ext uri="{FF2B5EF4-FFF2-40B4-BE49-F238E27FC236}">
                      <a16:creationId xmlns:a16="http://schemas.microsoft.com/office/drawing/2014/main" id="{2FCC93DD-6DFA-0DAE-1032-EF4690C3839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990003" y="3113340"/>
                  <a:ext cx="59219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8" name="Group 187">
                <a:extLst>
                  <a:ext uri="{FF2B5EF4-FFF2-40B4-BE49-F238E27FC236}">
                    <a16:creationId xmlns:a16="http://schemas.microsoft.com/office/drawing/2014/main" id="{80874651-E12A-7F23-C79E-107C57E78938}"/>
                  </a:ext>
                </a:extLst>
              </p:cNvPr>
              <p:cNvGrpSpPr/>
              <p:nvPr/>
            </p:nvGrpSpPr>
            <p:grpSpPr>
              <a:xfrm>
                <a:off x="3409099" y="4121868"/>
                <a:ext cx="422602" cy="291455"/>
                <a:chOff x="1347105" y="2872619"/>
                <a:chExt cx="422602" cy="291455"/>
              </a:xfrm>
            </p:grpSpPr>
            <p:cxnSp>
              <p:nvCxnSpPr>
                <p:cNvPr id="190" name="Straight Connector 189">
                  <a:extLst>
                    <a:ext uri="{FF2B5EF4-FFF2-40B4-BE49-F238E27FC236}">
                      <a16:creationId xmlns:a16="http://schemas.microsoft.com/office/drawing/2014/main" id="{54614D0D-BAF3-6C0F-1471-6382E8BF0C5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544248" y="2877182"/>
                  <a:ext cx="225459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1" name="Straight Connector 190">
                  <a:extLst>
                    <a:ext uri="{FF2B5EF4-FFF2-40B4-BE49-F238E27FC236}">
                      <a16:creationId xmlns:a16="http://schemas.microsoft.com/office/drawing/2014/main" id="{F62DEE92-501F-5979-62CA-D306BFCA627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544248" y="3155537"/>
                  <a:ext cx="225459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2" name="Straight Connector 191">
                  <a:extLst>
                    <a:ext uri="{FF2B5EF4-FFF2-40B4-BE49-F238E27FC236}">
                      <a16:creationId xmlns:a16="http://schemas.microsoft.com/office/drawing/2014/main" id="{C5A6A15C-BD1C-5508-E0DD-B2073087F77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554381" y="2872619"/>
                  <a:ext cx="3" cy="283901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3" name="Straight Connector 192">
                  <a:extLst>
                    <a:ext uri="{FF2B5EF4-FFF2-40B4-BE49-F238E27FC236}">
                      <a16:creationId xmlns:a16="http://schemas.microsoft.com/office/drawing/2014/main" id="{11ED893F-1F61-D676-A91C-E2BA16A8D68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89273" y="2880173"/>
                  <a:ext cx="3" cy="283901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4" name="Straight Connector 193">
                  <a:extLst>
                    <a:ext uri="{FF2B5EF4-FFF2-40B4-BE49-F238E27FC236}">
                      <a16:creationId xmlns:a16="http://schemas.microsoft.com/office/drawing/2014/main" id="{F4AF7F2A-A8AF-D01D-1AAB-7F331B784BC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347105" y="3011953"/>
                  <a:ext cx="207277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89" name="Straight Connector 188">
                <a:extLst>
                  <a:ext uri="{FF2B5EF4-FFF2-40B4-BE49-F238E27FC236}">
                    <a16:creationId xmlns:a16="http://schemas.microsoft.com/office/drawing/2014/main" id="{6063AE49-99A0-96A5-35CA-F1A9589A100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742976" y="4262000"/>
                <a:ext cx="25221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7F9DAD89-3B03-1AC4-47DB-3C6D876C312A}"/>
                    </a:ext>
                  </a:extLst>
                </p:cNvPr>
                <p:cNvSpPr txBox="1"/>
                <p:nvPr/>
              </p:nvSpPr>
              <p:spPr>
                <a:xfrm>
                  <a:off x="2337608" y="2969109"/>
                  <a:ext cx="256414" cy="338554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200" dirty="0"/>
                </a:p>
              </p:txBody>
            </p:sp>
          </mc:Choice>
          <mc:Fallback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7F9DAD89-3B03-1AC4-47DB-3C6D876C31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37608" y="2969109"/>
                  <a:ext cx="256414" cy="338554"/>
                </a:xfrm>
                <a:prstGeom prst="rect">
                  <a:avLst/>
                </a:prstGeom>
                <a:blipFill>
                  <a:blip r:embed="rId5"/>
                  <a:stretch>
                    <a:fillRect l="-38095" r="-33333" b="-1071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6DAE1451-9E57-1B2D-AB97-E6FC2E0BE92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7312" y="3340901"/>
              <a:ext cx="136585" cy="17608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0C341E06-DA64-FD5E-8820-5CDB9866575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67039" y="3342104"/>
              <a:ext cx="83052" cy="11675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0B4A9C0D-AF0C-3CED-8A24-7CAF297F12CD}"/>
                </a:ext>
              </a:extLst>
            </p:cNvPr>
            <p:cNvCxnSpPr>
              <a:cxnSpLocks/>
            </p:cNvCxnSpPr>
            <p:nvPr/>
          </p:nvCxnSpPr>
          <p:spPr>
            <a:xfrm>
              <a:off x="1144590" y="3458861"/>
              <a:ext cx="42041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901E2DD6-6331-9D96-4338-6AF90807FCD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08403" y="3340901"/>
              <a:ext cx="136585" cy="17608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A15F3AF4-84E0-12DA-AD14-F608128EC68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2209" y="3342104"/>
              <a:ext cx="83052" cy="11675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3D650968-7213-3C36-DB67-855150593C72}"/>
                </a:ext>
              </a:extLst>
            </p:cNvPr>
            <p:cNvCxnSpPr>
              <a:cxnSpLocks/>
            </p:cNvCxnSpPr>
            <p:nvPr/>
          </p:nvCxnSpPr>
          <p:spPr>
            <a:xfrm>
              <a:off x="687053" y="3458861"/>
              <a:ext cx="42041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F0C16E43-6E2F-5601-9972-F7238D5EA69A}"/>
                    </a:ext>
                  </a:extLst>
                </p:cNvPr>
                <p:cNvSpPr txBox="1"/>
                <p:nvPr/>
              </p:nvSpPr>
              <p:spPr>
                <a:xfrm>
                  <a:off x="849741" y="2974830"/>
                  <a:ext cx="251770" cy="338554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200" dirty="0"/>
                </a:p>
              </p:txBody>
            </p:sp>
          </mc:Choice>
          <mc:Fallback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F0C16E43-6E2F-5601-9972-F7238D5EA6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9741" y="2974830"/>
                  <a:ext cx="251770" cy="338554"/>
                </a:xfrm>
                <a:prstGeom prst="rect">
                  <a:avLst/>
                </a:prstGeom>
                <a:blipFill>
                  <a:blip r:embed="rId6"/>
                  <a:stretch>
                    <a:fillRect l="-38095" r="-28571" b="-1071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5E579DAF-CD8E-086E-8038-A413BBC1143F}"/>
                    </a:ext>
                  </a:extLst>
                </p:cNvPr>
                <p:cNvSpPr txBox="1"/>
                <p:nvPr/>
              </p:nvSpPr>
              <p:spPr>
                <a:xfrm>
                  <a:off x="977340" y="3730133"/>
                  <a:ext cx="228690" cy="33855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200" dirty="0"/>
                </a:p>
              </p:txBody>
            </p:sp>
          </mc:Choice>
          <mc:Fallback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5E579DAF-CD8E-086E-8038-A413BBC1143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7340" y="3730133"/>
                  <a:ext cx="228690" cy="338554"/>
                </a:xfrm>
                <a:prstGeom prst="rect">
                  <a:avLst/>
                </a:prstGeom>
                <a:blipFill>
                  <a:blip r:embed="rId7"/>
                  <a:stretch>
                    <a:fillRect l="-26316" r="-31579" b="-148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D1C4BE13-970D-90D3-14C1-C64E2C256909}"/>
                    </a:ext>
                  </a:extLst>
                </p:cNvPr>
                <p:cNvSpPr txBox="1"/>
                <p:nvPr/>
              </p:nvSpPr>
              <p:spPr>
                <a:xfrm>
                  <a:off x="2297781" y="3737562"/>
                  <a:ext cx="233335" cy="33855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200" dirty="0"/>
                </a:p>
              </p:txBody>
            </p:sp>
          </mc:Choice>
          <mc:Fallback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D1C4BE13-970D-90D3-14C1-C64E2C25690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97781" y="3737562"/>
                  <a:ext cx="233335" cy="338554"/>
                </a:xfrm>
                <a:prstGeom prst="rect">
                  <a:avLst/>
                </a:prstGeom>
                <a:blipFill>
                  <a:blip r:embed="rId8"/>
                  <a:stretch>
                    <a:fillRect l="-31579" r="-31579" b="-1071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49E5B659-C985-FD04-E165-07FAADE281F9}"/>
                </a:ext>
              </a:extLst>
            </p:cNvPr>
            <p:cNvGrpSpPr/>
            <p:nvPr/>
          </p:nvGrpSpPr>
          <p:grpSpPr>
            <a:xfrm>
              <a:off x="3745698" y="2967362"/>
              <a:ext cx="665300" cy="1040672"/>
              <a:chOff x="3893457" y="2727659"/>
              <a:chExt cx="811905" cy="1040672"/>
            </a:xfrm>
          </p:grpSpPr>
          <p:cxnSp>
            <p:nvCxnSpPr>
              <p:cNvPr id="171" name="Straight Connector 170">
                <a:extLst>
                  <a:ext uri="{FF2B5EF4-FFF2-40B4-BE49-F238E27FC236}">
                    <a16:creationId xmlns:a16="http://schemas.microsoft.com/office/drawing/2014/main" id="{454794F7-41B0-9D97-D6BC-243AB761BCA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298451" y="3068600"/>
                <a:ext cx="136585" cy="176086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Straight Connector 171">
                <a:extLst>
                  <a:ext uri="{FF2B5EF4-FFF2-40B4-BE49-F238E27FC236}">
                    <a16:creationId xmlns:a16="http://schemas.microsoft.com/office/drawing/2014/main" id="{44042863-104B-FE8B-3FA5-52DE0486735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428178" y="3069803"/>
                <a:ext cx="83052" cy="11675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Straight Connector 172">
                <a:extLst>
                  <a:ext uri="{FF2B5EF4-FFF2-40B4-BE49-F238E27FC236}">
                    <a16:creationId xmlns:a16="http://schemas.microsoft.com/office/drawing/2014/main" id="{C2FDCFA1-2C3E-B98D-FCC7-869B7D9FBB9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169542" y="3068600"/>
                <a:ext cx="136585" cy="176086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Straight Connector 173">
                <a:extLst>
                  <a:ext uri="{FF2B5EF4-FFF2-40B4-BE49-F238E27FC236}">
                    <a16:creationId xmlns:a16="http://schemas.microsoft.com/office/drawing/2014/main" id="{20D695EB-B6B3-A6DC-716D-BAEC7D9E496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093348" y="3069803"/>
                <a:ext cx="83052" cy="11675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5" name="Straight Connector 174">
                <a:extLst>
                  <a:ext uri="{FF2B5EF4-FFF2-40B4-BE49-F238E27FC236}">
                    <a16:creationId xmlns:a16="http://schemas.microsoft.com/office/drawing/2014/main" id="{A2B82474-6862-2B9E-49E0-044B11E540A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225281" y="3357245"/>
                <a:ext cx="195327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6" name="Straight Connector 175">
                <a:extLst>
                  <a:ext uri="{FF2B5EF4-FFF2-40B4-BE49-F238E27FC236}">
                    <a16:creationId xmlns:a16="http://schemas.microsoft.com/office/drawing/2014/main" id="{2A307FD3-CFBB-BDD9-D178-D3D2D5C0BFB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225281" y="3602689"/>
                <a:ext cx="195327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7" name="Straight Connector 176">
                <a:extLst>
                  <a:ext uri="{FF2B5EF4-FFF2-40B4-BE49-F238E27FC236}">
                    <a16:creationId xmlns:a16="http://schemas.microsoft.com/office/drawing/2014/main" id="{F11C8ADC-642B-0BD4-714D-E3BB7E42526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34060" y="3353221"/>
                <a:ext cx="3" cy="25033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8" name="Straight Connector 177">
                <a:extLst>
                  <a:ext uri="{FF2B5EF4-FFF2-40B4-BE49-F238E27FC236}">
                    <a16:creationId xmlns:a16="http://schemas.microsoft.com/office/drawing/2014/main" id="{EC6A8065-DE3F-8E4E-FA4A-2B9271658F6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50924" y="3359882"/>
                <a:ext cx="3" cy="25033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9" name="Straight Connector 178">
                <a:extLst>
                  <a:ext uri="{FF2B5EF4-FFF2-40B4-BE49-F238E27FC236}">
                    <a16:creationId xmlns:a16="http://schemas.microsoft.com/office/drawing/2014/main" id="{450715A4-8D16-B488-E938-172FD5FA24F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893457" y="3476082"/>
                <a:ext cx="340603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0" name="Straight Connector 179">
                <a:extLst>
                  <a:ext uri="{FF2B5EF4-FFF2-40B4-BE49-F238E27FC236}">
                    <a16:creationId xmlns:a16="http://schemas.microsoft.com/office/drawing/2014/main" id="{819C1045-3907-EB4D-5C05-6638B104EF6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343741" y="3476082"/>
                <a:ext cx="361621" cy="704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Straight Connector 180">
                <a:extLst>
                  <a:ext uri="{FF2B5EF4-FFF2-40B4-BE49-F238E27FC236}">
                    <a16:creationId xmlns:a16="http://schemas.microsoft.com/office/drawing/2014/main" id="{445156DE-7744-8334-531E-3ED888DBBA2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502877" y="3180483"/>
                <a:ext cx="202485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Straight Connector 181">
                <a:extLst>
                  <a:ext uri="{FF2B5EF4-FFF2-40B4-BE49-F238E27FC236}">
                    <a16:creationId xmlns:a16="http://schemas.microsoft.com/office/drawing/2014/main" id="{02928424-5F61-4B02-DEC2-D060D82A093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893457" y="3186560"/>
                <a:ext cx="205392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83" name="TextBox 182">
                    <a:extLst>
                      <a:ext uri="{FF2B5EF4-FFF2-40B4-BE49-F238E27FC236}">
                        <a16:creationId xmlns:a16="http://schemas.microsoft.com/office/drawing/2014/main" id="{42920090-BCE5-1A97-2B80-0738F246AAC9}"/>
                      </a:ext>
                    </a:extLst>
                  </p:cNvPr>
                  <p:cNvSpPr txBox="1"/>
                  <p:nvPr/>
                </p:nvSpPr>
                <p:spPr>
                  <a:xfrm>
                    <a:off x="4177742" y="2727659"/>
                    <a:ext cx="312917" cy="298526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US" sz="2200" dirty="0"/>
                  </a:p>
                </p:txBody>
              </p:sp>
            </mc:Choice>
            <mc:Fallback>
              <p:sp>
                <p:nvSpPr>
                  <p:cNvPr id="183" name="TextBox 182">
                    <a:extLst>
                      <a:ext uri="{FF2B5EF4-FFF2-40B4-BE49-F238E27FC236}">
                        <a16:creationId xmlns:a16="http://schemas.microsoft.com/office/drawing/2014/main" id="{42920090-BCE5-1A97-2B80-0738F246AAC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77742" y="2727659"/>
                    <a:ext cx="312917" cy="298526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33333" r="-33333" b="-291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84" name="TextBox 183">
                    <a:extLst>
                      <a:ext uri="{FF2B5EF4-FFF2-40B4-BE49-F238E27FC236}">
                        <a16:creationId xmlns:a16="http://schemas.microsoft.com/office/drawing/2014/main" id="{7122B8F9-060A-0090-FCCF-8466EC493300}"/>
                      </a:ext>
                    </a:extLst>
                  </p:cNvPr>
                  <p:cNvSpPr txBox="1"/>
                  <p:nvPr/>
                </p:nvSpPr>
                <p:spPr>
                  <a:xfrm>
                    <a:off x="4021374" y="3469805"/>
                    <a:ext cx="284753" cy="298526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US" sz="2200" dirty="0"/>
                  </a:p>
                </p:txBody>
              </p:sp>
            </mc:Choice>
            <mc:Fallback>
              <p:sp>
                <p:nvSpPr>
                  <p:cNvPr id="184" name="TextBox 183">
                    <a:extLst>
                      <a:ext uri="{FF2B5EF4-FFF2-40B4-BE49-F238E27FC236}">
                        <a16:creationId xmlns:a16="http://schemas.microsoft.com/office/drawing/2014/main" id="{7122B8F9-060A-0090-FCCF-8466EC49330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021374" y="3469805"/>
                    <a:ext cx="284753" cy="298526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26316" r="-36842" b="-291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33831021-D275-46F4-B644-8D7D2915FC33}"/>
                </a:ext>
              </a:extLst>
            </p:cNvPr>
            <p:cNvGrpSpPr/>
            <p:nvPr/>
          </p:nvGrpSpPr>
          <p:grpSpPr>
            <a:xfrm>
              <a:off x="3116300" y="2750905"/>
              <a:ext cx="495392" cy="570947"/>
              <a:chOff x="3455716" y="2696600"/>
              <a:chExt cx="697817" cy="647503"/>
            </a:xfrm>
          </p:grpSpPr>
          <p:cxnSp>
            <p:nvCxnSpPr>
              <p:cNvPr id="168" name="Straight Connector 167">
                <a:extLst>
                  <a:ext uri="{FF2B5EF4-FFF2-40B4-BE49-F238E27FC236}">
                    <a16:creationId xmlns:a16="http://schemas.microsoft.com/office/drawing/2014/main" id="{53C073AB-8638-BF86-655F-43C5F59263D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455716" y="3103310"/>
                <a:ext cx="0" cy="240793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Straight Arrow Connector 168">
                <a:extLst>
                  <a:ext uri="{FF2B5EF4-FFF2-40B4-BE49-F238E27FC236}">
                    <a16:creationId xmlns:a16="http://schemas.microsoft.com/office/drawing/2014/main" id="{613339AA-DB14-1CF2-4C9A-0D730D2AB419}"/>
                  </a:ext>
                </a:extLst>
              </p:cNvPr>
              <p:cNvCxnSpPr/>
              <p:nvPr/>
            </p:nvCxnSpPr>
            <p:spPr>
              <a:xfrm>
                <a:off x="3455716" y="3104282"/>
                <a:ext cx="528468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70" name="TextBox 169">
                    <a:extLst>
                      <a:ext uri="{FF2B5EF4-FFF2-40B4-BE49-F238E27FC236}">
                        <a16:creationId xmlns:a16="http://schemas.microsoft.com/office/drawing/2014/main" id="{586DF71D-A200-8929-4302-0B35E5164761}"/>
                      </a:ext>
                    </a:extLst>
                  </p:cNvPr>
                  <p:cNvSpPr txBox="1"/>
                  <p:nvPr/>
                </p:nvSpPr>
                <p:spPr>
                  <a:xfrm>
                    <a:off x="3563821" y="2696600"/>
                    <a:ext cx="589712" cy="33855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lang="en-US" sz="2200" b="0" i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sz="2200" b="0" i="0" smtClean="0"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n-US" sz="2200" b="0" i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US" sz="2200" dirty="0"/>
                  </a:p>
                </p:txBody>
              </p:sp>
            </mc:Choice>
            <mc:Fallback>
              <p:sp>
                <p:nvSpPr>
                  <p:cNvPr id="170" name="TextBox 169">
                    <a:extLst>
                      <a:ext uri="{FF2B5EF4-FFF2-40B4-BE49-F238E27FC236}">
                        <a16:creationId xmlns:a16="http://schemas.microsoft.com/office/drawing/2014/main" id="{586DF71D-A200-8929-4302-0B35E516476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563821" y="2696600"/>
                    <a:ext cx="589712" cy="338554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l="-20588" t="-4000" r="-52941" b="-48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1471BFD6-A78B-236D-56A8-6442A1B772AC}"/>
                </a:ext>
              </a:extLst>
            </p:cNvPr>
            <p:cNvGrpSpPr/>
            <p:nvPr/>
          </p:nvGrpSpPr>
          <p:grpSpPr>
            <a:xfrm>
              <a:off x="4397803" y="2731521"/>
              <a:ext cx="1058729" cy="1330282"/>
              <a:chOff x="5074117" y="2483694"/>
              <a:chExt cx="1292030" cy="1330282"/>
            </a:xfrm>
          </p:grpSpPr>
          <p:grpSp>
            <p:nvGrpSpPr>
              <p:cNvPr id="141" name="Group 140">
                <a:extLst>
                  <a:ext uri="{FF2B5EF4-FFF2-40B4-BE49-F238E27FC236}">
                    <a16:creationId xmlns:a16="http://schemas.microsoft.com/office/drawing/2014/main" id="{8214DB3A-796C-F475-4705-E3CFFE621760}"/>
                  </a:ext>
                </a:extLst>
              </p:cNvPr>
              <p:cNvGrpSpPr/>
              <p:nvPr/>
            </p:nvGrpSpPr>
            <p:grpSpPr>
              <a:xfrm>
                <a:off x="5074117" y="3047166"/>
                <a:ext cx="1292030" cy="766810"/>
                <a:chOff x="2025545" y="3818857"/>
                <a:chExt cx="1491343" cy="869628"/>
              </a:xfrm>
            </p:grpSpPr>
            <p:sp>
              <p:nvSpPr>
                <p:cNvPr id="164" name="Rectangle 163">
                  <a:extLst>
                    <a:ext uri="{FF2B5EF4-FFF2-40B4-BE49-F238E27FC236}">
                      <a16:creationId xmlns:a16="http://schemas.microsoft.com/office/drawing/2014/main" id="{8227D248-AA13-5ACC-9B52-9BCA49131B2D}"/>
                    </a:ext>
                  </a:extLst>
                </p:cNvPr>
                <p:cNvSpPr/>
                <p:nvPr/>
              </p:nvSpPr>
              <p:spPr>
                <a:xfrm>
                  <a:off x="2025545" y="3818857"/>
                  <a:ext cx="1491343" cy="603926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200"/>
                </a:p>
              </p:txBody>
            </p:sp>
            <p:sp>
              <p:nvSpPr>
                <p:cNvPr id="165" name="Oval 164">
                  <a:extLst>
                    <a:ext uri="{FF2B5EF4-FFF2-40B4-BE49-F238E27FC236}">
                      <a16:creationId xmlns:a16="http://schemas.microsoft.com/office/drawing/2014/main" id="{7365E830-A11A-DED2-7737-E6124519B7E5}"/>
                    </a:ext>
                  </a:extLst>
                </p:cNvPr>
                <p:cNvSpPr/>
                <p:nvPr/>
              </p:nvSpPr>
              <p:spPr>
                <a:xfrm>
                  <a:off x="2273226" y="4438114"/>
                  <a:ext cx="254202" cy="250371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200"/>
                </a:p>
              </p:txBody>
            </p:sp>
            <p:sp>
              <p:nvSpPr>
                <p:cNvPr id="166" name="Oval 165">
                  <a:extLst>
                    <a:ext uri="{FF2B5EF4-FFF2-40B4-BE49-F238E27FC236}">
                      <a16:creationId xmlns:a16="http://schemas.microsoft.com/office/drawing/2014/main" id="{00F82C9D-0ED0-FAD6-0D44-F969EE218CB1}"/>
                    </a:ext>
                  </a:extLst>
                </p:cNvPr>
                <p:cNvSpPr/>
                <p:nvPr/>
              </p:nvSpPr>
              <p:spPr>
                <a:xfrm>
                  <a:off x="3004511" y="4438114"/>
                  <a:ext cx="254202" cy="250371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200"/>
                </a:p>
              </p:txBody>
            </p: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167" name="TextBox 166">
                      <a:extLst>
                        <a:ext uri="{FF2B5EF4-FFF2-40B4-BE49-F238E27FC236}">
                          <a16:creationId xmlns:a16="http://schemas.microsoft.com/office/drawing/2014/main" id="{306CAA0E-2FD0-6646-E525-48A76E10F33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548856" y="3907369"/>
                      <a:ext cx="442941" cy="338554"/>
                    </a:xfrm>
                    <a:prstGeom prst="rect">
                      <a:avLst/>
                    </a:prstGeom>
                    <a:solidFill>
                      <a:schemeClr val="bg1">
                        <a:lumMod val="85000"/>
                      </a:schemeClr>
                    </a:solidFill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200" dirty="0"/>
                    </a:p>
                  </p:txBody>
                </p:sp>
              </mc:Choice>
              <mc:Fallback>
                <p:sp>
                  <p:nvSpPr>
                    <p:cNvPr id="167" name="TextBox 166">
                      <a:extLst>
                        <a:ext uri="{FF2B5EF4-FFF2-40B4-BE49-F238E27FC236}">
                          <a16:creationId xmlns:a16="http://schemas.microsoft.com/office/drawing/2014/main" id="{306CAA0E-2FD0-6646-E525-48A76E10F33A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548856" y="3907369"/>
                      <a:ext cx="442941" cy="338554"/>
                    </a:xfrm>
                    <a:prstGeom prst="rect">
                      <a:avLst/>
                    </a:prstGeom>
                    <a:blipFill>
                      <a:blip r:embed="rId12"/>
                      <a:stretch>
                        <a:fillRect l="-24000" r="-36000" b="-2800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133" name="Group 132">
                <a:extLst>
                  <a:ext uri="{FF2B5EF4-FFF2-40B4-BE49-F238E27FC236}">
                    <a16:creationId xmlns:a16="http://schemas.microsoft.com/office/drawing/2014/main" id="{0128F186-E299-60D6-55FA-5D3D6EBB181B}"/>
                  </a:ext>
                </a:extLst>
              </p:cNvPr>
              <p:cNvGrpSpPr/>
              <p:nvPr/>
            </p:nvGrpSpPr>
            <p:grpSpPr>
              <a:xfrm>
                <a:off x="5613151" y="2483694"/>
                <a:ext cx="510899" cy="553726"/>
                <a:chOff x="3187647" y="2708561"/>
                <a:chExt cx="589712" cy="627972"/>
              </a:xfrm>
            </p:grpSpPr>
            <p:cxnSp>
              <p:nvCxnSpPr>
                <p:cNvPr id="138" name="Straight Connector 137">
                  <a:extLst>
                    <a:ext uri="{FF2B5EF4-FFF2-40B4-BE49-F238E27FC236}">
                      <a16:creationId xmlns:a16="http://schemas.microsoft.com/office/drawing/2014/main" id="{3FF24FFC-0385-CAFA-F0BE-09F55B3A2DC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239302" y="3095740"/>
                  <a:ext cx="0" cy="240793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9" name="Straight Arrow Connector 138">
                  <a:extLst>
                    <a:ext uri="{FF2B5EF4-FFF2-40B4-BE49-F238E27FC236}">
                      <a16:creationId xmlns:a16="http://schemas.microsoft.com/office/drawing/2014/main" id="{A1EF5C75-9B2B-30BF-BA53-CB5382907565}"/>
                    </a:ext>
                  </a:extLst>
                </p:cNvPr>
                <p:cNvCxnSpPr/>
                <p:nvPr/>
              </p:nvCxnSpPr>
              <p:spPr>
                <a:xfrm>
                  <a:off x="3228416" y="3095740"/>
                  <a:ext cx="528467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140" name="TextBox 139">
                      <a:extLst>
                        <a:ext uri="{FF2B5EF4-FFF2-40B4-BE49-F238E27FC236}">
                          <a16:creationId xmlns:a16="http://schemas.microsoft.com/office/drawing/2014/main" id="{978AC41B-1271-1C8A-F4C7-53BBEB20999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187647" y="2708561"/>
                      <a:ext cx="589712" cy="338554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  <m:r>
                              <a:rPr lang="en-US" sz="2200" b="0" i="0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m:rPr>
                                <m:sty m:val="p"/>
                              </m:rPr>
                              <a:rPr lang="en-US" sz="2200" b="0" i="0" smtClean="0">
                                <a:latin typeface="Cambria Math" panose="02040503050406030204" pitchFamily="18" charset="0"/>
                              </a:rPr>
                              <m:t>t</m:t>
                            </m:r>
                            <m:r>
                              <a:rPr lang="en-US" sz="2200" b="0" i="0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oMath>
                        </m:oMathPara>
                      </a14:m>
                      <a:endParaRPr lang="en-US" sz="2200" dirty="0"/>
                    </a:p>
                  </p:txBody>
                </p:sp>
              </mc:Choice>
              <mc:Fallback>
                <p:sp>
                  <p:nvSpPr>
                    <p:cNvPr id="140" name="TextBox 139">
                      <a:extLst>
                        <a:ext uri="{FF2B5EF4-FFF2-40B4-BE49-F238E27FC236}">
                          <a16:creationId xmlns:a16="http://schemas.microsoft.com/office/drawing/2014/main" id="{978AC41B-1271-1C8A-F4C7-53BBEB209998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187647" y="2708561"/>
                      <a:ext cx="589712" cy="338554"/>
                    </a:xfrm>
                    <a:prstGeom prst="rect">
                      <a:avLst/>
                    </a:prstGeom>
                    <a:blipFill>
                      <a:blip r:embed="rId2"/>
                      <a:stretch>
                        <a:fillRect l="-23529" t="-4000" r="-52941" b="-4800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B0BC2411-45BD-F994-9F8C-85B4BEA1522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6634" y="2755458"/>
              <a:ext cx="24242" cy="1346972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0A5CFB11-F083-CDB1-7F86-CB192FE627EB}"/>
                </a:ext>
              </a:extLst>
            </p:cNvPr>
            <p:cNvGrpSpPr/>
            <p:nvPr/>
          </p:nvGrpSpPr>
          <p:grpSpPr>
            <a:xfrm>
              <a:off x="693930" y="3593393"/>
              <a:ext cx="492701" cy="256996"/>
              <a:chOff x="373313" y="4531336"/>
              <a:chExt cx="492701" cy="256996"/>
            </a:xfrm>
          </p:grpSpPr>
          <p:cxnSp>
            <p:nvCxnSpPr>
              <p:cNvPr id="123" name="Straight Connector 122">
                <a:extLst>
                  <a:ext uri="{FF2B5EF4-FFF2-40B4-BE49-F238E27FC236}">
                    <a16:creationId xmlns:a16="http://schemas.microsoft.com/office/drawing/2014/main" id="{6A324E20-C933-266F-5CDF-BEE3CCADDDF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13268" y="4535360"/>
                <a:ext cx="160057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Straight Connector 123">
                <a:extLst>
                  <a:ext uri="{FF2B5EF4-FFF2-40B4-BE49-F238E27FC236}">
                    <a16:creationId xmlns:a16="http://schemas.microsoft.com/office/drawing/2014/main" id="{AAA3E6E8-E424-C1DA-68D1-6611512CFFE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13268" y="4780804"/>
                <a:ext cx="160057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Straight Connector 124">
                <a:extLst>
                  <a:ext uri="{FF2B5EF4-FFF2-40B4-BE49-F238E27FC236}">
                    <a16:creationId xmlns:a16="http://schemas.microsoft.com/office/drawing/2014/main" id="{2ED919D0-BB9D-BDD4-6D72-931B974B2A5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0462" y="4531336"/>
                <a:ext cx="2" cy="25033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" name="Straight Connector 125">
                <a:extLst>
                  <a:ext uri="{FF2B5EF4-FFF2-40B4-BE49-F238E27FC236}">
                    <a16:creationId xmlns:a16="http://schemas.microsoft.com/office/drawing/2014/main" id="{503FF93F-B694-5C97-03A1-70C881AB5C5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16224" y="4537997"/>
                <a:ext cx="2" cy="25033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Straight Connector 126">
                <a:extLst>
                  <a:ext uri="{FF2B5EF4-FFF2-40B4-BE49-F238E27FC236}">
                    <a16:creationId xmlns:a16="http://schemas.microsoft.com/office/drawing/2014/main" id="{CE5A1EC5-5F61-9609-C3A8-67E5C0BBBA8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73313" y="4654196"/>
                <a:ext cx="147149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8" name="Straight Connector 127">
                <a:extLst>
                  <a:ext uri="{FF2B5EF4-FFF2-40B4-BE49-F238E27FC236}">
                    <a16:creationId xmlns:a16="http://schemas.microsoft.com/office/drawing/2014/main" id="{975157E2-D2A1-74CB-1375-F1AC6CE49D6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0337" y="4654196"/>
                <a:ext cx="255677" cy="703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aphicFrame>
        <p:nvGraphicFramePr>
          <p:cNvPr id="19" name="Object 18">
            <a:extLst>
              <a:ext uri="{FF2B5EF4-FFF2-40B4-BE49-F238E27FC236}">
                <a16:creationId xmlns:a16="http://schemas.microsoft.com/office/drawing/2014/main" id="{2B6F382B-135D-E879-ED2F-656CB747DDE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5422124"/>
              </p:ext>
            </p:extLst>
          </p:nvPr>
        </p:nvGraphicFramePr>
        <p:xfrm>
          <a:off x="762706" y="1162395"/>
          <a:ext cx="10217021" cy="196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13" imgW="5943600" imgH="1143000" progId="Word.Document.12">
                  <p:embed/>
                </p:oleObj>
              </mc:Choice>
              <mc:Fallback>
                <p:oleObj name="Document" r:id="rId13" imgW="5943600" imgH="114300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762706" y="1162395"/>
                        <a:ext cx="10217021" cy="19648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468617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F5101-A883-0250-3945-418878699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Simulation practice.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8D0115EE-9FC1-2D87-3215-1704972D68A4}"/>
              </a:ext>
            </a:extLst>
          </p:cNvPr>
          <p:cNvSpPr txBox="1">
            <a:spLocks/>
          </p:cNvSpPr>
          <p:nvPr/>
        </p:nvSpPr>
        <p:spPr>
          <a:xfrm>
            <a:off x="412596" y="141190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/>
              <a:t>I provided different codes, to play with equations and get a sense about how an vibrating system behaves under different loading conditions and different parameters. 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The codes are for both one and three degree of freedom systems.</a:t>
            </a:r>
          </a:p>
          <a:p>
            <a:pPr marL="0" indent="0">
              <a:buNone/>
            </a:pPr>
            <a:r>
              <a:rPr lang="en-US" sz="2000" dirty="0"/>
              <a:t>You will see the </a:t>
            </a:r>
            <a:r>
              <a:rPr lang="en-US" sz="2000" dirty="0" err="1"/>
              <a:t>behaviour</a:t>
            </a:r>
            <a:r>
              <a:rPr lang="en-US" sz="2000" dirty="0"/>
              <a:t> of the system under resonance, </a:t>
            </a:r>
          </a:p>
          <a:p>
            <a:pPr marL="0" indent="0">
              <a:buNone/>
            </a:pPr>
            <a:r>
              <a:rPr lang="en-US" sz="2000" dirty="0"/>
              <a:t>You will see the </a:t>
            </a:r>
            <a:r>
              <a:rPr lang="en-US" sz="2000" dirty="0" err="1"/>
              <a:t>behaviour</a:t>
            </a:r>
            <a:r>
              <a:rPr lang="en-US" sz="2000" dirty="0"/>
              <a:t> of vibrating systems in underdamped, critical damped and overdamped conditions. 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More details in the provided code.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65969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4FD4F-F3A1-63B8-7E87-F8EA2D1BB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correlation function?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E79657C-9B45-687D-9DC0-FA9B5993D2F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12595" y="1411907"/>
                <a:ext cx="11524031" cy="493946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2000" dirty="0"/>
                  <a:t>The </a:t>
                </a:r>
                <a:r>
                  <a:rPr lang="en-US" sz="2000" b="1" dirty="0"/>
                  <a:t>correlation function</a:t>
                </a:r>
                <a:r>
                  <a:rPr lang="en-US" sz="2000" dirty="0"/>
                  <a:t> measures the similarity between two signals as a function of a time shift.</a:t>
                </a:r>
              </a:p>
              <a:p>
                <a:r>
                  <a:rPr lang="en-US" sz="2000" dirty="0"/>
                  <a:t>For two signals </a:t>
                </a:r>
                <a14:m>
                  <m:oMath xmlns:m="http://schemas.openxmlformats.org/officeDocument/2006/math">
                    <m:r>
                      <a:rPr lang="en-US" sz="2000" i="1"/>
                      <m:t>𝑥</m:t>
                    </m:r>
                    <m:d>
                      <m:dPr>
                        <m:ctrlPr>
                          <a:rPr lang="ar-AE" sz="2000" i="1"/>
                        </m:ctrlPr>
                      </m:dPr>
                      <m:e>
                        <m:r>
                          <a:rPr lang="ar-AE" sz="2000" i="1"/>
                          <m:t>𝑡</m:t>
                        </m:r>
                      </m:e>
                    </m:d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r>
                      <a:rPr lang="en-US" sz="2000" i="1"/>
                      <m:t>𝑦</m:t>
                    </m:r>
                    <m:d>
                      <m:dPr>
                        <m:ctrlPr>
                          <a:rPr lang="ar-AE" sz="2000" i="1"/>
                        </m:ctrlPr>
                      </m:dPr>
                      <m:e>
                        <m:r>
                          <a:rPr lang="ar-AE" sz="2000" i="1"/>
                          <m:t>𝑡</m:t>
                        </m:r>
                      </m:e>
                    </m:d>
                  </m:oMath>
                </a14:m>
                <a:r>
                  <a:rPr lang="ar-AE" sz="2000" dirty="0"/>
                  <a:t>, </a:t>
                </a:r>
                <a:r>
                  <a:rPr lang="en-US" sz="2000" dirty="0"/>
                  <a:t>the </a:t>
                </a:r>
                <a:r>
                  <a:rPr lang="en-US" sz="2000" b="1" dirty="0"/>
                  <a:t>cross-correlation function</a:t>
                </a:r>
                <a:r>
                  <a:rPr lang="en-US" sz="2000" dirty="0"/>
                  <a:t> is defined as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000"/>
                          </m:ctrlPr>
                        </m:sSubPr>
                        <m:e>
                          <m:r>
                            <a:rPr lang="ar-AE" sz="2000" i="1"/>
                            <m:t>𝑅</m:t>
                          </m:r>
                        </m:e>
                        <m:sub>
                          <m:r>
                            <a:rPr lang="ar-AE" sz="2000" i="1"/>
                            <m:t>𝑥𝑦</m:t>
                          </m:r>
                        </m:sub>
                      </m:sSub>
                      <m:d>
                        <m:dPr>
                          <m:ctrlPr>
                            <a:rPr lang="ar-AE" sz="2000" i="1"/>
                          </m:ctrlPr>
                        </m:dPr>
                        <m:e>
                          <m:r>
                            <a:rPr lang="ar-AE" sz="2000" i="1"/>
                            <m:t>𝜏</m:t>
                          </m:r>
                        </m:e>
                      </m:d>
                      <m:r>
                        <a:rPr lang="ar-AE" sz="2000"/>
                        <m:t>=</m:t>
                      </m:r>
                      <m:r>
                        <a:rPr lang="ar-AE" sz="2000" i="1"/>
                        <m:t>𝐸</m:t>
                      </m:r>
                      <m:r>
                        <a:rPr lang="ar-AE" sz="2000"/>
                        <m:t>[</m:t>
                      </m:r>
                      <m:r>
                        <a:rPr lang="ar-AE" sz="2000" i="1"/>
                        <m:t>𝑥</m:t>
                      </m:r>
                      <m:d>
                        <m:dPr>
                          <m:ctrlPr>
                            <a:rPr lang="ar-AE" sz="2000" i="1"/>
                          </m:ctrlPr>
                        </m:dPr>
                        <m:e>
                          <m:r>
                            <a:rPr lang="ar-AE" sz="2000" i="1"/>
                            <m:t>𝑡</m:t>
                          </m:r>
                        </m:e>
                      </m:d>
                      <m:r>
                        <m:rPr>
                          <m:nor/>
                        </m:rPr>
                        <a:rPr lang="ar-AE" sz="2000" i="1"/>
                        <m:t> </m:t>
                      </m:r>
                      <m:r>
                        <a:rPr lang="ar-AE" sz="2000" i="1"/>
                        <m:t>𝑦</m:t>
                      </m:r>
                      <m:d>
                        <m:dPr>
                          <m:ctrlPr>
                            <a:rPr lang="ar-AE" sz="2000" i="1"/>
                          </m:ctrlPr>
                        </m:dPr>
                        <m:e>
                          <m:r>
                            <a:rPr lang="ar-AE" sz="2000" i="1"/>
                            <m:t>𝑡</m:t>
                          </m:r>
                          <m:r>
                            <a:rPr lang="ar-AE" sz="2000"/>
                            <m:t>+</m:t>
                          </m:r>
                          <m:r>
                            <a:rPr lang="ar-AE" sz="2000" i="1"/>
                            <m:t>𝜏</m:t>
                          </m:r>
                        </m:e>
                      </m:d>
                      <m:r>
                        <a:rPr lang="ar-AE" sz="2000"/>
                        <m:t>]</m:t>
                      </m:r>
                    </m:oMath>
                  </m:oMathPara>
                </a14:m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14:m>
                  <m:oMath xmlns:m="http://schemas.openxmlformats.org/officeDocument/2006/math">
                    <m:r>
                      <a:rPr lang="en-US" sz="2000" i="1"/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ar-AE" sz="2000" i="1"/>
                        </m:ctrlPr>
                      </m:dPr>
                      <m:e>
                        <m:r>
                          <a:rPr lang="ar-AE" sz="2000"/>
                          <m:t>⋅</m:t>
                        </m:r>
                      </m:e>
                    </m:d>
                  </m:oMath>
                </a14:m>
                <a:r>
                  <a:rPr lang="ar-AE" sz="2000" dirty="0"/>
                  <a:t>= </a:t>
                </a:r>
                <a:r>
                  <a:rPr lang="en-US" sz="2000" dirty="0"/>
                  <a:t>expectation (statistical average)</a:t>
                </a:r>
              </a:p>
              <a:p>
                <a14:m>
                  <m:oMath xmlns:m="http://schemas.openxmlformats.org/officeDocument/2006/math">
                    <m:r>
                      <a:rPr lang="en-US" sz="2000" i="1"/>
                      <m:t>𝜏</m:t>
                    </m:r>
                  </m:oMath>
                </a14:m>
                <a:r>
                  <a:rPr lang="en-US" sz="2000" dirty="0"/>
                  <a:t>= time lag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sz="2000"/>
                        </m:ctrlPr>
                      </m:sSubPr>
                      <m:e>
                        <m:r>
                          <a:rPr lang="ar-AE" sz="2000" i="1"/>
                          <m:t>𝑅</m:t>
                        </m:r>
                      </m:e>
                      <m:sub>
                        <m:r>
                          <a:rPr lang="ar-AE" sz="2000" i="1"/>
                          <m:t>𝑥𝑦</m:t>
                        </m:r>
                      </m:sub>
                    </m:sSub>
                    <m:d>
                      <m:dPr>
                        <m:ctrlPr>
                          <a:rPr lang="ar-AE" sz="2000" i="1"/>
                        </m:ctrlPr>
                      </m:dPr>
                      <m:e>
                        <m:r>
                          <a:rPr lang="ar-AE" sz="2000" i="1"/>
                          <m:t>𝜏</m:t>
                        </m:r>
                      </m:e>
                    </m:d>
                  </m:oMath>
                </a14:m>
                <a:r>
                  <a:rPr lang="ar-AE" sz="2000" dirty="0"/>
                  <a:t>= </a:t>
                </a:r>
                <a:r>
                  <a:rPr lang="en-US" sz="2000" dirty="0"/>
                  <a:t>correlation between the signals at delay </a:t>
                </a:r>
                <a14:m>
                  <m:oMath xmlns:m="http://schemas.openxmlformats.org/officeDocument/2006/math">
                    <m:r>
                      <a:rPr lang="en-US" sz="2000" i="1"/>
                      <m:t>𝜏</m:t>
                    </m:r>
                  </m:oMath>
                </a14:m>
                <a:endParaRPr lang="en-US" sz="2000" dirty="0"/>
              </a:p>
              <a:p>
                <a:r>
                  <a:rPr lang="en-US" sz="2000" dirty="0"/>
                  <a:t>For discrete signals, the code estimates:</a:t>
                </a:r>
              </a:p>
              <a:p>
                <a:endParaRPr lang="en-US" sz="2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000"/>
                          </m:ctrlPr>
                        </m:sSubPr>
                        <m:e>
                          <m:r>
                            <a:rPr lang="ar-AE" sz="2000" i="1"/>
                            <m:t>𝑅</m:t>
                          </m:r>
                        </m:e>
                        <m:sub>
                          <m:r>
                            <a:rPr lang="ar-AE" sz="2000" i="1"/>
                            <m:t>𝑥</m:t>
                          </m:r>
                          <m:acc>
                            <m:accPr>
                              <m:chr m:val="̇"/>
                              <m:ctrlPr>
                                <a:rPr lang="ar-AE" sz="2000" i="1"/>
                              </m:ctrlPr>
                            </m:accPr>
                            <m:e>
                              <m:r>
                                <a:rPr lang="ar-AE" sz="2000" i="1"/>
                                <m:t>𝑥</m:t>
                              </m:r>
                            </m:e>
                          </m:acc>
                        </m:sub>
                      </m:sSub>
                      <m:d>
                        <m:dPr>
                          <m:ctrlPr>
                            <a:rPr lang="ar-AE" sz="2000" i="1"/>
                          </m:ctrlPr>
                        </m:dPr>
                        <m:e>
                          <m:r>
                            <a:rPr lang="ar-AE" sz="2000" i="1"/>
                            <m:t>𝜏</m:t>
                          </m:r>
                        </m:e>
                      </m:d>
                      <m:r>
                        <a:rPr lang="ar-AE" sz="2000"/>
                        <m:t>≈</m:t>
                      </m:r>
                      <m:f>
                        <m:fPr>
                          <m:ctrlPr>
                            <a:rPr lang="ar-AE" sz="2000" i="1"/>
                          </m:ctrlPr>
                        </m:fPr>
                        <m:num>
                          <m:r>
                            <a:rPr lang="ar-AE" sz="2000"/>
                            <m:t>1</m:t>
                          </m:r>
                        </m:num>
                        <m:den>
                          <m:r>
                            <a:rPr lang="ar-AE" sz="2000" i="1"/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grow m:val="on"/>
                          <m:ctrlPr>
                            <a:rPr lang="ar-AE" sz="2000" i="1"/>
                          </m:ctrlPr>
                        </m:naryPr>
                        <m:sub>
                          <m:r>
                            <a:rPr lang="ar-AE" sz="2000" i="1"/>
                            <m:t>𝑛</m:t>
                          </m:r>
                          <m:r>
                            <a:rPr lang="ar-AE" sz="2000"/>
                            <m:t>=0</m:t>
                          </m:r>
                        </m:sub>
                        <m:sup>
                          <m:r>
                            <a:rPr lang="ar-AE" sz="2000" i="1"/>
                            <m:t>𝑁</m:t>
                          </m:r>
                          <m:r>
                            <a:rPr lang="ar-AE" sz="2000"/>
                            <m:t>−1</m:t>
                          </m:r>
                        </m:sup>
                        <m:e>
                          <m:r>
                            <a:rPr lang="ar-AE" sz="2000" i="1"/>
                            <m:t>𝑥</m:t>
                          </m:r>
                        </m:e>
                      </m:nary>
                      <m:d>
                        <m:dPr>
                          <m:ctrlPr>
                            <a:rPr lang="ar-AE" sz="2000" i="1"/>
                          </m:ctrlPr>
                        </m:dPr>
                        <m:e>
                          <m:r>
                            <a:rPr lang="ar-AE" sz="2000" i="1"/>
                            <m:t>𝑛</m:t>
                          </m:r>
                        </m:e>
                      </m:d>
                      <m:r>
                        <m:rPr>
                          <m:nor/>
                        </m:rPr>
                        <a:rPr lang="ar-AE" sz="2000" i="1"/>
                        <m:t> </m:t>
                      </m:r>
                      <m:acc>
                        <m:accPr>
                          <m:chr m:val="̇"/>
                          <m:ctrlPr>
                            <a:rPr lang="ar-AE" sz="2000" i="1"/>
                          </m:ctrlPr>
                        </m:accPr>
                        <m:e>
                          <m:r>
                            <a:rPr lang="ar-AE" sz="2000" i="1"/>
                            <m:t>𝑥</m:t>
                          </m:r>
                        </m:e>
                      </m:acc>
                      <m:d>
                        <m:dPr>
                          <m:ctrlPr>
                            <a:rPr lang="ar-AE" sz="2000" i="1"/>
                          </m:ctrlPr>
                        </m:dPr>
                        <m:e>
                          <m:r>
                            <a:rPr lang="ar-AE" sz="2000" i="1"/>
                            <m:t>𝑛</m:t>
                          </m:r>
                          <m:r>
                            <a:rPr lang="ar-AE" sz="2000"/>
                            <m:t>+</m:t>
                          </m:r>
                          <m:r>
                            <a:rPr lang="ar-AE" sz="2000" i="1"/>
                            <m:t>𝜏</m:t>
                          </m:r>
                        </m:e>
                      </m:d>
                    </m:oMath>
                  </m:oMathPara>
                </a14:m>
                <a:endParaRPr lang="ar-AE" sz="2000" b="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E79657C-9B45-687D-9DC0-FA9B5993D2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595" y="1411907"/>
                <a:ext cx="11524031" cy="4939465"/>
              </a:xfrm>
              <a:prstGeom prst="rect">
                <a:avLst/>
              </a:prstGeom>
              <a:blipFill>
                <a:blip r:embed="rId2"/>
                <a:stretch>
                  <a:fillRect l="-551" t="-1282" b="-2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579538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E75627-C615-EB62-7AD7-510739012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842A71-CAAA-18E6-D3E5-D97E658F5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Decrement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BDEEE73-80F6-13CE-BABF-AB67FDE6DF1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33984" y="1115345"/>
                <a:ext cx="11713854" cy="529781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2000" dirty="0"/>
                  <a:t>The </a:t>
                </a:r>
                <a:r>
                  <a:rPr lang="en-US" sz="2000" b="1" dirty="0"/>
                  <a:t>Random Decrement (RD)</a:t>
                </a:r>
                <a:r>
                  <a:rPr lang="en-US" sz="2000" dirty="0"/>
                  <a:t> technique is a signal processing method used to extract the </a:t>
                </a:r>
                <a:r>
                  <a:rPr lang="en-US" sz="2000" b="1" dirty="0"/>
                  <a:t>free vibration response</a:t>
                </a:r>
                <a:r>
                  <a:rPr lang="en-US" sz="2000" dirty="0"/>
                  <a:t> of a structure (like a bridge, building, or machine) excited by unknown, random ambient forces (like wind, traffic, or waves).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For a linear, time invariant system, with random and stationary excitation: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z="2000" i="1">
                          <a:latin typeface="Cambria Math" panose="02040503050406030204" pitchFamily="18" charset="0"/>
                        </a:rPr>
                        <m:t>𝑚</m:t>
                      </m:r>
                      <m:acc>
                        <m:accPr>
                          <m:chr m:val="̈"/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d>
                        <m:d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ar-AE" sz="20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sz="2000" i="1">
                          <a:latin typeface="Cambria Math" panose="02040503050406030204" pitchFamily="18" charset="0"/>
                        </a:rPr>
                        <m:t>𝑐</m:t>
                      </m:r>
                      <m:acc>
                        <m:accPr>
                          <m:chr m:val="̇"/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d>
                        <m:d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ar-AE" sz="20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sz="2000" i="1">
                          <a:latin typeface="Cambria Math" panose="02040503050406030204" pitchFamily="18" charset="0"/>
                        </a:rPr>
                        <m:t>𝑘𝑥</m:t>
                      </m:r>
                      <m:d>
                        <m:d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ar-AE" sz="200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00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To derive the RD, we multiply the equation of motion by </a:t>
                </a:r>
                <a14:m>
                  <m:oMath xmlns:m="http://schemas.openxmlformats.org/officeDocument/2006/math">
                    <m:r>
                      <a:rPr lang="en-US" sz="2000" i="1"/>
                      <m:t>𝑥</m:t>
                    </m:r>
                    <m:d>
                      <m:dPr>
                        <m:ctrlPr>
                          <a:rPr lang="ar-AE" sz="2000" i="1"/>
                        </m:ctrlPr>
                      </m:dPr>
                      <m:e>
                        <m:r>
                          <a:rPr lang="ar-AE" sz="2000" i="1"/>
                          <m:t>𝑡</m:t>
                        </m:r>
                        <m:r>
                          <a:rPr lang="ar-AE" sz="2000"/>
                          <m:t>+</m:t>
                        </m:r>
                        <m:r>
                          <a:rPr lang="ar-AE" sz="2000" i="1"/>
                          <m:t>𝜏</m:t>
                        </m:r>
                      </m:e>
                    </m:d>
                  </m:oMath>
                </a14:m>
                <a:r>
                  <a:rPr lang="ar-AE" sz="2000" dirty="0"/>
                  <a:t>:</a:t>
                </a:r>
                <a:endParaRPr lang="en-US" sz="2000" dirty="0"/>
              </a:p>
              <a:p>
                <a:pPr marL="0" indent="0">
                  <a:buNone/>
                </a:pPr>
                <a:endParaRPr lang="ar-AE" sz="2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z="2000" i="1"/>
                        <m:t>𝑚</m:t>
                      </m:r>
                      <m:acc>
                        <m:accPr>
                          <m:chr m:val="̈"/>
                          <m:ctrlPr>
                            <a:rPr lang="ar-AE" sz="2000" i="1"/>
                          </m:ctrlPr>
                        </m:accPr>
                        <m:e>
                          <m:r>
                            <a:rPr lang="ar-AE" sz="2000" i="1"/>
                            <m:t>𝑥</m:t>
                          </m:r>
                        </m:e>
                      </m:acc>
                      <m:d>
                        <m:dPr>
                          <m:ctrlPr>
                            <a:rPr lang="ar-AE" sz="2000" i="1"/>
                          </m:ctrlPr>
                        </m:dPr>
                        <m:e>
                          <m:r>
                            <a:rPr lang="ar-AE" sz="2000" i="1"/>
                            <m:t>𝑡</m:t>
                          </m:r>
                        </m:e>
                      </m:d>
                      <m:r>
                        <a:rPr lang="ar-AE" sz="200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m:t>𝑥</m:t>
                      </m:r>
                      <m:d>
                        <m:dPr>
                          <m:ctrlPr>
                            <a:rPr lang="ar-AE" sz="2000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</a:rPr>
                          </m:ctrlPr>
                        </m:dPr>
                        <m:e>
                          <m:r>
                            <a:rPr lang="ar-AE" sz="2000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</a:rPr>
                            <m:t>𝑡</m:t>
                          </m:r>
                          <m:r>
                            <a:rPr lang="ar-AE" sz="200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</a:rPr>
                            <m:t>+</m:t>
                          </m:r>
                          <m:r>
                            <a:rPr lang="ar-AE" sz="2000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</a:rPr>
                            <m:t>𝜏</m:t>
                          </m:r>
                        </m:e>
                      </m:d>
                      <m:r>
                        <a:rPr lang="ar-AE" sz="2000"/>
                        <m:t>+</m:t>
                      </m:r>
                      <m:r>
                        <a:rPr lang="ar-AE" sz="2000" i="1"/>
                        <m:t>𝑐</m:t>
                      </m:r>
                      <m:acc>
                        <m:accPr>
                          <m:chr m:val="̇"/>
                          <m:ctrlPr>
                            <a:rPr lang="ar-AE" sz="2000" i="1"/>
                          </m:ctrlPr>
                        </m:accPr>
                        <m:e>
                          <m:r>
                            <a:rPr lang="ar-AE" sz="2000" i="1"/>
                            <m:t>𝑥</m:t>
                          </m:r>
                        </m:e>
                      </m:acc>
                      <m:d>
                        <m:dPr>
                          <m:ctrlPr>
                            <a:rPr lang="ar-AE" sz="2000" i="1"/>
                          </m:ctrlPr>
                        </m:dPr>
                        <m:e>
                          <m:r>
                            <a:rPr lang="ar-AE" sz="2000" i="1"/>
                            <m:t>𝑡</m:t>
                          </m:r>
                        </m:e>
                      </m:d>
                      <m:r>
                        <a:rPr lang="ar-AE" sz="200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m:t>𝑥</m:t>
                      </m:r>
                      <m:d>
                        <m:dPr>
                          <m:ctrlPr>
                            <a:rPr lang="ar-AE" sz="2000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</a:rPr>
                          </m:ctrlPr>
                        </m:dPr>
                        <m:e>
                          <m:r>
                            <a:rPr lang="ar-AE" sz="2000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</a:rPr>
                            <m:t>𝑡</m:t>
                          </m:r>
                          <m:r>
                            <a:rPr lang="ar-AE" sz="200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</a:rPr>
                            <m:t>+</m:t>
                          </m:r>
                          <m:r>
                            <a:rPr lang="ar-AE" sz="2000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</a:rPr>
                            <m:t>𝜏</m:t>
                          </m:r>
                        </m:e>
                      </m:d>
                      <m:r>
                        <a:rPr lang="ar-AE" sz="2000"/>
                        <m:t>+</m:t>
                      </m:r>
                      <m:r>
                        <a:rPr lang="ar-AE" sz="2000" i="1"/>
                        <m:t>𝑘𝑥</m:t>
                      </m:r>
                      <m:d>
                        <m:dPr>
                          <m:ctrlPr>
                            <a:rPr lang="ar-AE" sz="2000" i="1"/>
                          </m:ctrlPr>
                        </m:dPr>
                        <m:e>
                          <m:r>
                            <a:rPr lang="ar-AE" sz="2000" i="1"/>
                            <m:t>𝑡</m:t>
                          </m:r>
                        </m:e>
                      </m:d>
                      <m:r>
                        <a:rPr lang="ar-AE" sz="200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m:t>𝑥</m:t>
                      </m:r>
                      <m:d>
                        <m:dPr>
                          <m:ctrlPr>
                            <a:rPr lang="ar-AE" sz="2000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</a:rPr>
                          </m:ctrlPr>
                        </m:dPr>
                        <m:e>
                          <m:r>
                            <a:rPr lang="ar-AE" sz="2000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</a:rPr>
                            <m:t>𝑡</m:t>
                          </m:r>
                          <m:r>
                            <a:rPr lang="ar-AE" sz="200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</a:rPr>
                            <m:t>+</m:t>
                          </m:r>
                          <m:r>
                            <a:rPr lang="ar-AE" sz="2000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</a:rPr>
                            <m:t>𝜏</m:t>
                          </m:r>
                        </m:e>
                      </m:d>
                      <m:r>
                        <a:rPr lang="ar-AE" sz="2000"/>
                        <m:t>=</m:t>
                      </m:r>
                      <m:r>
                        <a:rPr lang="ar-AE" sz="2000" i="1"/>
                        <m:t>𝑓</m:t>
                      </m:r>
                      <m:d>
                        <m:dPr>
                          <m:ctrlPr>
                            <a:rPr lang="ar-AE" sz="2000" i="1"/>
                          </m:ctrlPr>
                        </m:dPr>
                        <m:e>
                          <m:r>
                            <a:rPr lang="ar-AE" sz="2000" i="1"/>
                            <m:t>𝑡</m:t>
                          </m:r>
                        </m:e>
                      </m:d>
                      <m:r>
                        <a:rPr lang="ar-AE" sz="200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m:t>𝑥</m:t>
                      </m:r>
                      <m:d>
                        <m:dPr>
                          <m:ctrlPr>
                            <a:rPr lang="ar-AE" sz="2000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</a:rPr>
                          </m:ctrlPr>
                        </m:dPr>
                        <m:e>
                          <m:r>
                            <a:rPr lang="ar-AE" sz="2000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</a:rPr>
                            <m:t>𝑡</m:t>
                          </m:r>
                          <m:r>
                            <a:rPr lang="ar-AE" sz="200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</a:rPr>
                            <m:t>+</m:t>
                          </m:r>
                          <m:r>
                            <a:rPr lang="ar-AE" sz="2000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</a:rPr>
                            <m:t>𝜏</m:t>
                          </m:r>
                        </m:e>
                      </m:d>
                    </m:oMath>
                  </m:oMathPara>
                </a14:m>
                <a:endParaRPr lang="en-US" sz="2000" dirty="0"/>
              </a:p>
              <a:p>
                <a:pPr marL="0" indent="0">
                  <a:buNone/>
                </a:pPr>
                <a:endParaRPr lang="ar-AE" sz="2000" dirty="0"/>
              </a:p>
              <a:p>
                <a:pPr marL="0" indent="0">
                  <a:buNone/>
                </a:pPr>
                <a:r>
                  <a:rPr lang="en-US" sz="2000" dirty="0"/>
                  <a:t>Taking the expectation </a:t>
                </a:r>
                <a14:m>
                  <m:oMath xmlns:m="http://schemas.openxmlformats.org/officeDocument/2006/math">
                    <m:r>
                      <a:rPr lang="en-US" sz="2000" i="1"/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ar-AE" sz="2000" i="1"/>
                        </m:ctrlPr>
                      </m:dPr>
                      <m:e>
                        <m:r>
                          <a:rPr lang="ar-AE" sz="2000"/>
                          <m:t>⋅</m:t>
                        </m:r>
                      </m:e>
                    </m:d>
                  </m:oMath>
                </a14:m>
                <a:r>
                  <a:rPr lang="ar-AE" sz="2000" dirty="0"/>
                  <a:t>:</a:t>
                </a:r>
                <a:endParaRPr lang="en-US" sz="2000" dirty="0"/>
              </a:p>
              <a:p>
                <a:pPr marL="0" indent="0">
                  <a:buNone/>
                </a:pPr>
                <a:endParaRPr lang="ar-AE" sz="2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z="2000" i="1"/>
                        <m:t>𝑚𝐸</m:t>
                      </m:r>
                      <m:d>
                        <m:dPr>
                          <m:begChr m:val="["/>
                          <m:endChr m:val="]"/>
                          <m:ctrlPr>
                            <a:rPr lang="ar-AE" sz="2000" i="1"/>
                          </m:ctrlPr>
                        </m:dPr>
                        <m:e>
                          <m:acc>
                            <m:accPr>
                              <m:chr m:val="̈"/>
                              <m:ctrlPr>
                                <a:rPr lang="ar-AE" sz="2000" i="1"/>
                              </m:ctrlPr>
                            </m:accPr>
                            <m:e>
                              <m:r>
                                <a:rPr lang="ar-AE" sz="2000" i="1"/>
                                <m:t>𝑥</m:t>
                              </m:r>
                            </m:e>
                          </m:acc>
                          <m:d>
                            <m:dPr>
                              <m:ctrlPr>
                                <a:rPr lang="ar-AE" sz="2000" i="1"/>
                              </m:ctrlPr>
                            </m:dPr>
                            <m:e>
                              <m:r>
                                <a:rPr lang="ar-AE" sz="2000" i="1"/>
                                <m:t>𝑡</m:t>
                              </m:r>
                            </m:e>
                          </m:d>
                          <m:r>
                            <a:rPr lang="ar-AE" sz="2000" i="1"/>
                            <m:t>𝑥</m:t>
                          </m:r>
                          <m:d>
                            <m:dPr>
                              <m:ctrlPr>
                                <a:rPr lang="ar-AE" sz="2000" i="1"/>
                              </m:ctrlPr>
                            </m:dPr>
                            <m:e>
                              <m:r>
                                <a:rPr lang="ar-AE" sz="2000" i="1"/>
                                <m:t>𝑡</m:t>
                              </m:r>
                              <m:r>
                                <a:rPr lang="ar-AE" sz="2000"/>
                                <m:t>+</m:t>
                              </m:r>
                              <m:r>
                                <a:rPr lang="ar-AE" sz="2000" i="1"/>
                                <m:t>𝜏</m:t>
                              </m:r>
                            </m:e>
                          </m:d>
                        </m:e>
                      </m:d>
                      <m:r>
                        <a:rPr lang="ar-AE" sz="2000"/>
                        <m:t>+</m:t>
                      </m:r>
                      <m:r>
                        <a:rPr lang="ar-AE" sz="2000" i="1"/>
                        <m:t>𝑐𝐸</m:t>
                      </m:r>
                      <m:d>
                        <m:dPr>
                          <m:begChr m:val="["/>
                          <m:endChr m:val="]"/>
                          <m:ctrlPr>
                            <a:rPr lang="ar-AE" sz="2000" i="1"/>
                          </m:ctrlPr>
                        </m:dPr>
                        <m:e>
                          <m:acc>
                            <m:accPr>
                              <m:chr m:val="̇"/>
                              <m:ctrlPr>
                                <a:rPr lang="ar-AE" sz="2000" i="1"/>
                              </m:ctrlPr>
                            </m:accPr>
                            <m:e>
                              <m:r>
                                <a:rPr lang="ar-AE" sz="2000" i="1"/>
                                <m:t>𝑥</m:t>
                              </m:r>
                            </m:e>
                          </m:acc>
                          <m:d>
                            <m:dPr>
                              <m:ctrlPr>
                                <a:rPr lang="ar-AE" sz="2000" i="1"/>
                              </m:ctrlPr>
                            </m:dPr>
                            <m:e>
                              <m:r>
                                <a:rPr lang="ar-AE" sz="2000" i="1"/>
                                <m:t>𝑡</m:t>
                              </m:r>
                            </m:e>
                          </m:d>
                          <m:r>
                            <a:rPr lang="ar-AE" sz="2000" i="1"/>
                            <m:t>𝑥</m:t>
                          </m:r>
                          <m:d>
                            <m:dPr>
                              <m:ctrlPr>
                                <a:rPr lang="ar-AE" sz="2000" i="1"/>
                              </m:ctrlPr>
                            </m:dPr>
                            <m:e>
                              <m:r>
                                <a:rPr lang="ar-AE" sz="2000" i="1"/>
                                <m:t>𝑡</m:t>
                              </m:r>
                              <m:r>
                                <a:rPr lang="ar-AE" sz="2000"/>
                                <m:t>+</m:t>
                              </m:r>
                              <m:r>
                                <a:rPr lang="ar-AE" sz="2000" i="1"/>
                                <m:t>𝜏</m:t>
                              </m:r>
                            </m:e>
                          </m:d>
                        </m:e>
                      </m:d>
                      <m:r>
                        <a:rPr lang="ar-AE" sz="2000"/>
                        <m:t>+</m:t>
                      </m:r>
                      <m:r>
                        <a:rPr lang="ar-AE" sz="2000" i="1"/>
                        <m:t>𝑘𝐸</m:t>
                      </m:r>
                      <m:d>
                        <m:dPr>
                          <m:begChr m:val="["/>
                          <m:endChr m:val="]"/>
                          <m:ctrlPr>
                            <a:rPr lang="ar-AE" sz="2000" i="1"/>
                          </m:ctrlPr>
                        </m:dPr>
                        <m:e>
                          <m:r>
                            <a:rPr lang="ar-AE" sz="2000" i="1"/>
                            <m:t>𝑥</m:t>
                          </m:r>
                          <m:d>
                            <m:dPr>
                              <m:ctrlPr>
                                <a:rPr lang="ar-AE" sz="2000" i="1"/>
                              </m:ctrlPr>
                            </m:dPr>
                            <m:e>
                              <m:r>
                                <a:rPr lang="ar-AE" sz="2000" i="1"/>
                                <m:t>𝑡</m:t>
                              </m:r>
                            </m:e>
                          </m:d>
                          <m:r>
                            <a:rPr lang="ar-AE" sz="2000" i="1"/>
                            <m:t>𝑥</m:t>
                          </m:r>
                          <m:d>
                            <m:dPr>
                              <m:ctrlPr>
                                <a:rPr lang="ar-AE" sz="2000" i="1"/>
                              </m:ctrlPr>
                            </m:dPr>
                            <m:e>
                              <m:r>
                                <a:rPr lang="ar-AE" sz="2000" i="1"/>
                                <m:t>𝑡</m:t>
                              </m:r>
                              <m:r>
                                <a:rPr lang="ar-AE" sz="2000"/>
                                <m:t>+</m:t>
                              </m:r>
                              <m:r>
                                <a:rPr lang="ar-AE" sz="2000" i="1"/>
                                <m:t>𝜏</m:t>
                              </m:r>
                            </m:e>
                          </m:d>
                        </m:e>
                      </m:d>
                      <m:r>
                        <a:rPr lang="ar-AE" sz="2000"/>
                        <m:t>=</m:t>
                      </m:r>
                      <m:r>
                        <a:rPr lang="ar-AE" sz="2000" i="1"/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ar-AE" sz="2000" i="1"/>
                          </m:ctrlPr>
                        </m:dPr>
                        <m:e>
                          <m:r>
                            <a:rPr lang="ar-AE" sz="2000" i="1"/>
                            <m:t>𝑓</m:t>
                          </m:r>
                          <m:d>
                            <m:dPr>
                              <m:ctrlPr>
                                <a:rPr lang="ar-AE" sz="2000" i="1"/>
                              </m:ctrlPr>
                            </m:dPr>
                            <m:e>
                              <m:r>
                                <a:rPr lang="ar-AE" sz="2000" i="1"/>
                                <m:t>𝑡</m:t>
                              </m:r>
                            </m:e>
                          </m:d>
                          <m:r>
                            <a:rPr lang="ar-AE" sz="2000" i="1"/>
                            <m:t>𝑥</m:t>
                          </m:r>
                          <m:d>
                            <m:dPr>
                              <m:ctrlPr>
                                <a:rPr lang="ar-AE" sz="2000" i="1"/>
                              </m:ctrlPr>
                            </m:dPr>
                            <m:e>
                              <m:r>
                                <a:rPr lang="ar-AE" sz="2000" i="1"/>
                                <m:t>𝑡</m:t>
                              </m:r>
                              <m:r>
                                <a:rPr lang="ar-AE" sz="2000"/>
                                <m:t>+</m:t>
                              </m:r>
                              <m:r>
                                <a:rPr lang="ar-AE" sz="2000" i="1"/>
                                <m:t>𝜏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ar-AE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BDEEE73-80F6-13CE-BABF-AB67FDE6DF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984" y="1115345"/>
                <a:ext cx="11713854" cy="5297812"/>
              </a:xfrm>
              <a:prstGeom prst="rect">
                <a:avLst/>
              </a:prstGeom>
              <a:blipFill>
                <a:blip r:embed="rId2"/>
                <a:stretch>
                  <a:fillRect l="-542" t="-14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137514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D7BAA6-1762-3509-AFE3-5712347A7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9896E-5175-7FEF-1E47-BBF3BB23C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Decrement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445D253-428C-3EBE-9D3F-7C2A2482F60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33984" y="1115345"/>
                <a:ext cx="11713854" cy="529781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2000" dirty="0"/>
                  <a:t>These expectations become correlation functions:</a:t>
                </a:r>
              </a:p>
              <a:p>
                <a:endParaRPr lang="en-US" sz="20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000" i="1"/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ar-AE" sz="2000" i="1"/>
                        </m:ctrlPr>
                      </m:dPr>
                      <m:e>
                        <m:r>
                          <a:rPr lang="ar-AE" sz="2000" i="1"/>
                          <m:t>𝑥</m:t>
                        </m:r>
                        <m:d>
                          <m:dPr>
                            <m:ctrlPr>
                              <a:rPr lang="ar-AE" sz="2000" i="1"/>
                            </m:ctrlPr>
                          </m:dPr>
                          <m:e>
                            <m:r>
                              <a:rPr lang="ar-AE" sz="2000" i="1"/>
                              <m:t>𝑡</m:t>
                            </m:r>
                          </m:e>
                        </m:d>
                        <m:r>
                          <a:rPr lang="ar-AE" sz="2000" i="1"/>
                          <m:t>𝑥</m:t>
                        </m:r>
                        <m:d>
                          <m:dPr>
                            <m:ctrlPr>
                              <a:rPr lang="ar-AE" sz="2000" i="1"/>
                            </m:ctrlPr>
                          </m:dPr>
                          <m:e>
                            <m:r>
                              <a:rPr lang="ar-AE" sz="2000" i="1"/>
                              <m:t>𝑡</m:t>
                            </m:r>
                            <m:r>
                              <a:rPr lang="ar-AE" sz="2000"/>
                              <m:t>+</m:t>
                            </m:r>
                            <m:r>
                              <a:rPr lang="ar-AE" sz="2000" i="1"/>
                              <m:t>𝜏</m:t>
                            </m:r>
                          </m:e>
                        </m:d>
                      </m:e>
                    </m:d>
                    <m:r>
                      <a:rPr lang="ar-AE" sz="2000"/>
                      <m:t>=</m:t>
                    </m:r>
                    <m:sSub>
                      <m:sSubPr>
                        <m:ctrlPr>
                          <a:rPr lang="ar-AE" sz="2000" i="1"/>
                        </m:ctrlPr>
                      </m:sSubPr>
                      <m:e>
                        <m:r>
                          <a:rPr lang="ar-AE" sz="2000" i="1"/>
                          <m:t>𝑅</m:t>
                        </m:r>
                      </m:e>
                      <m:sub>
                        <m:r>
                          <a:rPr lang="ar-AE" sz="2000" i="1"/>
                          <m:t>𝑥𝑥</m:t>
                        </m:r>
                      </m:sub>
                    </m:sSub>
                    <m:d>
                      <m:dPr>
                        <m:ctrlPr>
                          <a:rPr lang="ar-AE" sz="2000" i="1"/>
                        </m:ctrlPr>
                      </m:dPr>
                      <m:e>
                        <m:r>
                          <a:rPr lang="ar-AE" sz="2000" i="1"/>
                          <m:t>𝜏</m:t>
                        </m:r>
                      </m:e>
                    </m:d>
                  </m:oMath>
                </a14:m>
                <a:r>
                  <a:rPr lang="en-US" sz="2000" dirty="0"/>
                  <a:t>,            </a:t>
                </a:r>
                <a14:m>
                  <m:oMath xmlns:m="http://schemas.openxmlformats.org/officeDocument/2006/math">
                    <m:r>
                      <a:rPr lang="ar-AE" sz="2000" i="1"/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ar-AE" sz="2000" i="1"/>
                        </m:ctrlPr>
                      </m:dPr>
                      <m:e>
                        <m:acc>
                          <m:accPr>
                            <m:chr m:val="̇"/>
                            <m:ctrlPr>
                              <a:rPr lang="ar-AE" sz="2000" i="1"/>
                            </m:ctrlPr>
                          </m:accPr>
                          <m:e>
                            <m:r>
                              <a:rPr lang="ar-AE" sz="2000" i="1"/>
                              <m:t>𝑥</m:t>
                            </m:r>
                          </m:e>
                        </m:acc>
                        <m:d>
                          <m:dPr>
                            <m:ctrlPr>
                              <a:rPr lang="ar-AE" sz="2000" i="1"/>
                            </m:ctrlPr>
                          </m:dPr>
                          <m:e>
                            <m:r>
                              <a:rPr lang="ar-AE" sz="2000" i="1"/>
                              <m:t>𝑡</m:t>
                            </m:r>
                          </m:e>
                        </m:d>
                        <m:r>
                          <a:rPr lang="ar-AE" sz="2000" i="1"/>
                          <m:t>𝑥</m:t>
                        </m:r>
                        <m:d>
                          <m:dPr>
                            <m:ctrlPr>
                              <a:rPr lang="ar-AE" sz="2000" i="1"/>
                            </m:ctrlPr>
                          </m:dPr>
                          <m:e>
                            <m:r>
                              <a:rPr lang="ar-AE" sz="2000" i="1"/>
                              <m:t>𝑡</m:t>
                            </m:r>
                            <m:r>
                              <a:rPr lang="ar-AE" sz="2000"/>
                              <m:t>+</m:t>
                            </m:r>
                            <m:r>
                              <a:rPr lang="ar-AE" sz="2000" i="1"/>
                              <m:t>𝜏</m:t>
                            </m:r>
                          </m:e>
                        </m:d>
                      </m:e>
                    </m:d>
                    <m:r>
                      <a:rPr lang="ar-AE" sz="2000"/>
                      <m:t>=</m:t>
                    </m:r>
                    <m:f>
                      <m:fPr>
                        <m:ctrlPr>
                          <a:rPr lang="ar-AE" sz="2000" i="1"/>
                        </m:ctrlPr>
                      </m:fPr>
                      <m:num>
                        <m:r>
                          <a:rPr lang="ar-AE" sz="2000" i="1"/>
                          <m:t>𝑑</m:t>
                        </m:r>
                      </m:num>
                      <m:den>
                        <m:r>
                          <a:rPr lang="ar-AE" sz="2000" i="1"/>
                          <m:t>𝑑</m:t>
                        </m:r>
                        <m:r>
                          <a:rPr lang="ar-AE" sz="2000" i="1"/>
                          <m:t>𝜏</m:t>
                        </m:r>
                      </m:den>
                    </m:f>
                    <m:sSub>
                      <m:sSubPr>
                        <m:ctrlPr>
                          <a:rPr lang="ar-AE" sz="2000" i="1"/>
                        </m:ctrlPr>
                      </m:sSubPr>
                      <m:e>
                        <m:r>
                          <a:rPr lang="ar-AE" sz="2000" i="1"/>
                          <m:t>𝑅</m:t>
                        </m:r>
                      </m:e>
                      <m:sub>
                        <m:r>
                          <a:rPr lang="ar-AE" sz="2000" i="1"/>
                          <m:t>𝑥𝑥</m:t>
                        </m:r>
                      </m:sub>
                    </m:sSub>
                    <m:d>
                      <m:dPr>
                        <m:ctrlPr>
                          <a:rPr lang="ar-AE" sz="2000" i="1"/>
                        </m:ctrlPr>
                      </m:dPr>
                      <m:e>
                        <m:r>
                          <a:rPr lang="ar-AE" sz="2000" i="1"/>
                          <m:t>𝜏</m:t>
                        </m:r>
                      </m:e>
                    </m:d>
                  </m:oMath>
                </a14:m>
                <a:r>
                  <a:rPr lang="en-US" sz="2000" dirty="0"/>
                  <a:t>,             </a:t>
                </a:r>
                <a14:m>
                  <m:oMath xmlns:m="http://schemas.openxmlformats.org/officeDocument/2006/math">
                    <m:r>
                      <a:rPr lang="ar-AE" sz="2000" i="1"/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ar-AE" sz="2000" i="1"/>
                        </m:ctrlPr>
                      </m:dPr>
                      <m:e>
                        <m:acc>
                          <m:accPr>
                            <m:chr m:val="̈"/>
                            <m:ctrlPr>
                              <a:rPr lang="ar-AE" sz="2000" i="1"/>
                            </m:ctrlPr>
                          </m:accPr>
                          <m:e>
                            <m:r>
                              <a:rPr lang="ar-AE" sz="2000" i="1"/>
                              <m:t>𝑥</m:t>
                            </m:r>
                          </m:e>
                        </m:acc>
                        <m:d>
                          <m:dPr>
                            <m:ctrlPr>
                              <a:rPr lang="ar-AE" sz="2000" i="1"/>
                            </m:ctrlPr>
                          </m:dPr>
                          <m:e>
                            <m:r>
                              <a:rPr lang="ar-AE" sz="2000" i="1"/>
                              <m:t>𝑡</m:t>
                            </m:r>
                          </m:e>
                        </m:d>
                        <m:r>
                          <a:rPr lang="ar-AE" sz="2000" i="1"/>
                          <m:t>𝑥</m:t>
                        </m:r>
                        <m:d>
                          <m:dPr>
                            <m:ctrlPr>
                              <a:rPr lang="ar-AE" sz="2000" i="1"/>
                            </m:ctrlPr>
                          </m:dPr>
                          <m:e>
                            <m:r>
                              <a:rPr lang="ar-AE" sz="2000" i="1"/>
                              <m:t>𝑡</m:t>
                            </m:r>
                            <m:r>
                              <a:rPr lang="ar-AE" sz="2000"/>
                              <m:t>+</m:t>
                            </m:r>
                            <m:r>
                              <a:rPr lang="ar-AE" sz="2000" i="1"/>
                              <m:t>𝜏</m:t>
                            </m:r>
                          </m:e>
                        </m:d>
                      </m:e>
                    </m:d>
                    <m:r>
                      <a:rPr lang="ar-AE" sz="2000"/>
                      <m:t>=</m:t>
                    </m:r>
                    <m:f>
                      <m:fPr>
                        <m:ctrlPr>
                          <a:rPr lang="ar-AE" sz="2000" i="1"/>
                        </m:ctrlPr>
                      </m:fPr>
                      <m:num>
                        <m:sSup>
                          <m:sSupPr>
                            <m:ctrlPr>
                              <a:rPr lang="ar-AE" sz="2000" i="1"/>
                            </m:ctrlPr>
                          </m:sSupPr>
                          <m:e>
                            <m:r>
                              <a:rPr lang="ar-AE" sz="2000" i="1"/>
                              <m:t>𝑑</m:t>
                            </m:r>
                          </m:e>
                          <m:sup>
                            <m:r>
                              <a:rPr lang="ar-AE" sz="2000"/>
                              <m:t>2</m:t>
                            </m:r>
                          </m:sup>
                        </m:sSup>
                      </m:num>
                      <m:den>
                        <m:r>
                          <a:rPr lang="ar-AE" sz="2000" i="1"/>
                          <m:t>𝑑</m:t>
                        </m:r>
                        <m:sSup>
                          <m:sSupPr>
                            <m:ctrlPr>
                              <a:rPr lang="ar-AE" sz="2000" i="1"/>
                            </m:ctrlPr>
                          </m:sSupPr>
                          <m:e>
                            <m:r>
                              <a:rPr lang="ar-AE" sz="2000" i="1"/>
                              <m:t>𝜏</m:t>
                            </m:r>
                          </m:e>
                          <m:sup>
                            <m:r>
                              <a:rPr lang="ar-AE" sz="2000"/>
                              <m:t>2</m:t>
                            </m:r>
                          </m:sup>
                        </m:sSup>
                      </m:den>
                    </m:f>
                    <m:sSub>
                      <m:sSubPr>
                        <m:ctrlPr>
                          <a:rPr lang="ar-AE" sz="2000" i="1"/>
                        </m:ctrlPr>
                      </m:sSubPr>
                      <m:e>
                        <m:r>
                          <a:rPr lang="ar-AE" sz="2000" i="1"/>
                          <m:t>𝑅</m:t>
                        </m:r>
                      </m:e>
                      <m:sub>
                        <m:r>
                          <a:rPr lang="ar-AE" sz="2000" i="1"/>
                          <m:t>𝑥𝑥</m:t>
                        </m:r>
                      </m:sub>
                    </m:sSub>
                    <m:d>
                      <m:dPr>
                        <m:ctrlPr>
                          <a:rPr lang="ar-AE" sz="2000" i="1"/>
                        </m:ctrlPr>
                      </m:dPr>
                      <m:e>
                        <m:r>
                          <a:rPr lang="ar-AE" sz="2000" i="1"/>
                          <m:t>𝜏</m:t>
                        </m:r>
                      </m:e>
                    </m:d>
                  </m:oMath>
                </a14:m>
                <a:endParaRPr lang="ar-AE" sz="2000" dirty="0"/>
              </a:p>
              <a:p>
                <a:pPr marL="0" indent="0">
                  <a:buNone/>
                </a:pPr>
                <a:r>
                  <a:rPr lang="en-US" sz="2000" dirty="0"/>
                  <a:t>  </a:t>
                </a:r>
                <a:endParaRPr lang="ar-AE" sz="2000" dirty="0"/>
              </a:p>
              <a:p>
                <a:pPr marL="0" indent="0">
                  <a:buNone/>
                </a:pPr>
                <a:r>
                  <a:rPr lang="en-US" sz="2000" dirty="0"/>
                  <a:t>The correlation function satisfies the </a:t>
                </a:r>
                <a:r>
                  <a:rPr lang="en-US" sz="2000" b="1" dirty="0"/>
                  <a:t>same homogeneous equation as free vibration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/>
                        <m:t>𝑚</m:t>
                      </m:r>
                      <m:f>
                        <m:fPr>
                          <m:ctrlPr>
                            <a:rPr lang="ar-AE" sz="2000" i="1"/>
                          </m:ctrlPr>
                        </m:fPr>
                        <m:num>
                          <m:sSup>
                            <m:sSupPr>
                              <m:ctrlPr>
                                <a:rPr lang="ar-AE" sz="2000" i="1"/>
                              </m:ctrlPr>
                            </m:sSupPr>
                            <m:e>
                              <m:r>
                                <a:rPr lang="ar-AE" sz="2000" i="1"/>
                                <m:t>𝑑</m:t>
                              </m:r>
                            </m:e>
                            <m:sup>
                              <m:r>
                                <a:rPr lang="ar-AE" sz="2000"/>
                                <m:t>2</m:t>
                              </m:r>
                            </m:sup>
                          </m:sSup>
                          <m:sSub>
                            <m:sSubPr>
                              <m:ctrlPr>
                                <a:rPr lang="ar-AE" sz="2000" i="1"/>
                              </m:ctrlPr>
                            </m:sSubPr>
                            <m:e>
                              <m:r>
                                <a:rPr lang="ar-AE" sz="2000" i="1"/>
                                <m:t>𝑅</m:t>
                              </m:r>
                            </m:e>
                            <m:sub>
                              <m:r>
                                <a:rPr lang="ar-AE" sz="2000" i="1"/>
                                <m:t>𝑥𝑥</m:t>
                              </m:r>
                            </m:sub>
                          </m:sSub>
                          <m:d>
                            <m:dPr>
                              <m:ctrlPr>
                                <a:rPr lang="ar-AE" sz="2000" i="1"/>
                              </m:ctrlPr>
                            </m:dPr>
                            <m:e>
                              <m:r>
                                <a:rPr lang="ar-AE" sz="2000" i="1"/>
                                <m:t>𝜏</m:t>
                              </m:r>
                            </m:e>
                          </m:d>
                        </m:num>
                        <m:den>
                          <m:r>
                            <a:rPr lang="ar-AE" sz="2000" i="1"/>
                            <m:t>𝑑</m:t>
                          </m:r>
                          <m:sSup>
                            <m:sSupPr>
                              <m:ctrlPr>
                                <a:rPr lang="ar-AE" sz="2000" i="1"/>
                              </m:ctrlPr>
                            </m:sSupPr>
                            <m:e>
                              <m:r>
                                <a:rPr lang="ar-AE" sz="2000" i="1"/>
                                <m:t>𝜏</m:t>
                              </m:r>
                            </m:e>
                            <m:sup>
                              <m:r>
                                <a:rPr lang="ar-AE" sz="2000"/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ar-AE" sz="2000"/>
                        <m:t>+</m:t>
                      </m:r>
                      <m:r>
                        <a:rPr lang="ar-AE" sz="2000" i="1"/>
                        <m:t>𝑐</m:t>
                      </m:r>
                      <m:f>
                        <m:fPr>
                          <m:ctrlPr>
                            <a:rPr lang="ar-AE" sz="2000" i="1"/>
                          </m:ctrlPr>
                        </m:fPr>
                        <m:num>
                          <m:r>
                            <a:rPr lang="ar-AE" sz="2000" i="1"/>
                            <m:t>𝑑</m:t>
                          </m:r>
                          <m:sSub>
                            <m:sSubPr>
                              <m:ctrlPr>
                                <a:rPr lang="ar-AE" sz="2000" i="1"/>
                              </m:ctrlPr>
                            </m:sSubPr>
                            <m:e>
                              <m:r>
                                <a:rPr lang="ar-AE" sz="2000" i="1"/>
                                <m:t>𝑅</m:t>
                              </m:r>
                            </m:e>
                            <m:sub>
                              <m:r>
                                <a:rPr lang="ar-AE" sz="2000" i="1"/>
                                <m:t>𝑥𝑥</m:t>
                              </m:r>
                            </m:sub>
                          </m:sSub>
                          <m:d>
                            <m:dPr>
                              <m:ctrlPr>
                                <a:rPr lang="ar-AE" sz="2000" i="1"/>
                              </m:ctrlPr>
                            </m:dPr>
                            <m:e>
                              <m:r>
                                <a:rPr lang="ar-AE" sz="2000" i="1"/>
                                <m:t>𝜏</m:t>
                              </m:r>
                            </m:e>
                          </m:d>
                        </m:num>
                        <m:den>
                          <m:r>
                            <a:rPr lang="ar-AE" sz="2000" i="1"/>
                            <m:t>𝑑</m:t>
                          </m:r>
                          <m:r>
                            <a:rPr lang="ar-AE" sz="2000" i="1"/>
                            <m:t>𝜏</m:t>
                          </m:r>
                        </m:den>
                      </m:f>
                      <m:r>
                        <a:rPr lang="ar-AE" sz="2000"/>
                        <m:t>+</m:t>
                      </m:r>
                      <m:r>
                        <a:rPr lang="ar-AE" sz="2000" i="1"/>
                        <m:t>𝑘</m:t>
                      </m:r>
                      <m:sSub>
                        <m:sSubPr>
                          <m:ctrlPr>
                            <a:rPr lang="ar-AE" sz="2000" i="1"/>
                          </m:ctrlPr>
                        </m:sSubPr>
                        <m:e>
                          <m:r>
                            <a:rPr lang="ar-AE" sz="2000" i="1"/>
                            <m:t>𝑅</m:t>
                          </m:r>
                        </m:e>
                        <m:sub>
                          <m:r>
                            <a:rPr lang="ar-AE" sz="2000" i="1"/>
                            <m:t>𝑥𝑥</m:t>
                          </m:r>
                        </m:sub>
                      </m:sSub>
                      <m:d>
                        <m:dPr>
                          <m:ctrlPr>
                            <a:rPr lang="ar-AE" sz="2000" i="1"/>
                          </m:ctrlPr>
                        </m:dPr>
                        <m:e>
                          <m:r>
                            <a:rPr lang="ar-AE" sz="2000" i="1"/>
                            <m:t>𝜏</m:t>
                          </m:r>
                        </m:e>
                      </m:d>
                      <m:r>
                        <a:rPr lang="ar-AE" sz="2000"/>
                        <m:t>=0</m:t>
                      </m:r>
                    </m:oMath>
                  </m:oMathPara>
                </a14:m>
                <a:endParaRPr lang="ar-AE" sz="2000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sz="2000" dirty="0"/>
                  <a:t>The </a:t>
                </a:r>
                <a:r>
                  <a:rPr lang="en-US" sz="2000" b="1" dirty="0"/>
                  <a:t>correlation function behaves like the free decay response of the system</a:t>
                </a:r>
                <a:r>
                  <a:rPr lang="en-US" sz="2000" dirty="0"/>
                  <a:t>.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445D253-428C-3EBE-9D3F-7C2A2482F6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984" y="1115345"/>
                <a:ext cx="11713854" cy="5297812"/>
              </a:xfrm>
              <a:prstGeom prst="rect">
                <a:avLst/>
              </a:prstGeom>
              <a:blipFill>
                <a:blip r:embed="rId2"/>
                <a:stretch>
                  <a:fillRect l="-542" t="-9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781561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2B5398-BB64-04EC-98B2-0E3D2D7DB4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A6D1C-4EB5-3253-E8DF-BBECF53C3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implement Random Decrement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C049CF8-1863-7093-28C9-4E2C591BB4A6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5588" y="811224"/>
            <a:ext cx="7426412" cy="557083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05B37F1-F86D-7A39-1416-A79B25E180CB}"/>
                  </a:ext>
                </a:extLst>
              </p:cNvPr>
              <p:cNvSpPr txBox="1"/>
              <p:nvPr/>
            </p:nvSpPr>
            <p:spPr>
              <a:xfrm>
                <a:off x="0" y="1355807"/>
                <a:ext cx="6098058" cy="50262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dirty="0"/>
                  <a:t>1- Lets define a  </a:t>
                </a:r>
                <a:r>
                  <a:rPr lang="en-US" b="1" dirty="0"/>
                  <a:t>trigger condition 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ar-AE" i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 i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dirty="0"/>
              </a:p>
              <a:p>
                <a:pPr>
                  <a:buNone/>
                </a:pPr>
                <a:endParaRPr lang="ar-AE" dirty="0"/>
              </a:p>
              <a:p>
                <a:pPr>
                  <a:buNone/>
                </a:pPr>
                <a:r>
                  <a:rPr lang="en-US" dirty="0"/>
                  <a:t>2- The points that the signal satisfy  the trigger: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ar-AE" i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 i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ar-AE" i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AE" i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ar-AE" i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ar-AE" i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ar-AE" i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ar-AE" i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ar-AE" i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ar-AE" i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ar-AE" i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pPr>
                  <a:buNone/>
                </a:pPr>
                <a:endParaRPr lang="en-US" dirty="0"/>
              </a:p>
              <a:p>
                <a:pPr>
                  <a:buNone/>
                </a:pPr>
                <a:r>
                  <a:rPr lang="en-US" dirty="0"/>
                  <a:t>3-For each trigger time we take a </a:t>
                </a:r>
                <a:r>
                  <a:rPr lang="en-US" b="1" dirty="0"/>
                  <a:t>segment of the signal</a:t>
                </a:r>
                <a:endParaRPr lang="en-US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>
                  <a:buNone/>
                </a:pPr>
                <a:endParaRPr lang="en-US" dirty="0"/>
              </a:p>
              <a:p>
                <a:r>
                  <a:rPr lang="en-US" dirty="0"/>
                  <a:t>The random decrement average is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/>
                        <m:t>𝛿</m:t>
                      </m:r>
                      <m:d>
                        <m:dPr>
                          <m:ctrlPr>
                            <a:rPr lang="ar-AE" i="1"/>
                          </m:ctrlPr>
                        </m:dPr>
                        <m:e>
                          <m:r>
                            <a:rPr lang="ar-AE" i="1"/>
                            <m:t>𝜏</m:t>
                          </m:r>
                        </m:e>
                      </m:d>
                      <m:r>
                        <a:rPr lang="ar-AE"/>
                        <m:t>=</m:t>
                      </m:r>
                      <m:f>
                        <m:fPr>
                          <m:ctrlPr>
                            <a:rPr lang="ar-AE" i="1"/>
                          </m:ctrlPr>
                        </m:fPr>
                        <m:num>
                          <m:r>
                            <a:rPr lang="ar-AE"/>
                            <m:t>1</m:t>
                          </m:r>
                        </m:num>
                        <m:den>
                          <m:r>
                            <a:rPr lang="ar-AE" i="1"/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grow m:val="on"/>
                          <m:ctrlPr>
                            <a:rPr lang="ar-AE" i="1"/>
                          </m:ctrlPr>
                        </m:naryPr>
                        <m:sub>
                          <m:r>
                            <a:rPr lang="ar-AE" i="1"/>
                            <m:t>𝑖</m:t>
                          </m:r>
                          <m:r>
                            <a:rPr lang="ar-AE"/>
                            <m:t>=1</m:t>
                          </m:r>
                        </m:sub>
                        <m:sup>
                          <m:r>
                            <a:rPr lang="ar-AE" i="1"/>
                            <m:t>𝑁</m:t>
                          </m:r>
                        </m:sup>
                        <m:e>
                          <m:r>
                            <a:rPr lang="ar-AE" i="1"/>
                            <m:t>𝑥</m:t>
                          </m:r>
                        </m:e>
                      </m:nary>
                      <m:d>
                        <m:dPr>
                          <m:ctrlPr>
                            <a:rPr lang="ar-AE" i="1"/>
                          </m:ctrlPr>
                        </m:dPr>
                        <m:e>
                          <m:sSub>
                            <m:sSubPr>
                              <m:ctrlPr>
                                <a:rPr lang="ar-AE" i="1"/>
                              </m:ctrlPr>
                            </m:sSubPr>
                            <m:e>
                              <m:r>
                                <a:rPr lang="ar-AE" i="1"/>
                                <m:t>𝑡</m:t>
                              </m:r>
                            </m:e>
                            <m:sub>
                              <m:r>
                                <a:rPr lang="ar-AE" i="1"/>
                                <m:t>𝑖</m:t>
                              </m:r>
                            </m:sub>
                          </m:sSub>
                          <m:r>
                            <a:rPr lang="ar-AE"/>
                            <m:t>+</m:t>
                          </m:r>
                          <m:r>
                            <a:rPr lang="ar-AE" i="1"/>
                            <m:t>𝜏</m:t>
                          </m:r>
                        </m:e>
                      </m:d>
                    </m:oMath>
                  </m:oMathPara>
                </a14:m>
                <a:endParaRPr lang="ar-AE" dirty="0"/>
              </a:p>
              <a:p>
                <a:r>
                  <a:rPr lang="en-US" dirty="0"/>
                  <a:t>This is exactly what the bottom plots show: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i="1"/>
                      <m:t>𝑁</m:t>
                    </m:r>
                    <m:r>
                      <a:rPr lang="en-US"/>
                      <m:t>=2</m:t>
                    </m:r>
                  </m:oMath>
                </a14:m>
                <a:r>
                  <a:rPr lang="en-US" dirty="0"/>
                  <a:t>→ noisy</a:t>
                </a:r>
              </a:p>
              <a:p>
                <a14:m>
                  <m:oMath xmlns:m="http://schemas.openxmlformats.org/officeDocument/2006/math">
                    <m:r>
                      <a:rPr lang="en-US" i="1"/>
                      <m:t>𝑁</m:t>
                    </m:r>
                    <m:r>
                      <a:rPr lang="en-US"/>
                      <m:t>=4</m:t>
                    </m:r>
                  </m:oMath>
                </a14:m>
                <a:r>
                  <a:rPr lang="en-US" dirty="0"/>
                  <a:t>→ cleaner</a:t>
                </a:r>
              </a:p>
              <a:p>
                <a14:m>
                  <m:oMath xmlns:m="http://schemas.openxmlformats.org/officeDocument/2006/math">
                    <m:r>
                      <a:rPr lang="en-US" i="1"/>
                      <m:t>𝑁</m:t>
                    </m:r>
                    <m:r>
                      <a:rPr lang="en-US"/>
                      <m:t>=100</m:t>
                    </m:r>
                  </m:oMath>
                </a14:m>
                <a:r>
                  <a:rPr lang="en-US" dirty="0"/>
                  <a:t>→ converges</a:t>
                </a:r>
              </a:p>
              <a:p>
                <a:pPr>
                  <a:buNone/>
                </a:pPr>
                <a:endParaRPr lang="ar-AE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05B37F1-F86D-7A39-1416-A79B25E180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355807"/>
                <a:ext cx="6098058" cy="5026248"/>
              </a:xfrm>
              <a:prstGeom prst="rect">
                <a:avLst/>
              </a:prstGeom>
              <a:blipFill>
                <a:blip r:embed="rId3"/>
                <a:stretch>
                  <a:fillRect l="-832" t="-504" b="-10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76750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170E1B-3B42-E059-4C0D-034B62048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F9C3B-2600-54B3-8DFE-540918F66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b="1" dirty="0"/>
              <a:t>Relation between correlation and averaging segments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6CB99AE-4736-391D-9F1A-DA9CCAF9505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33984" y="1115345"/>
                <a:ext cx="11713854" cy="529781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2400" dirty="0"/>
                  <a:t>At each trigger: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         </m:t>
                    </m:r>
                    <m:r>
                      <a:rPr lang="en-US" sz="2400" i="1"/>
                      <m:t>𝑥</m:t>
                    </m:r>
                    <m:d>
                      <m:dPr>
                        <m:ctrlPr>
                          <a:rPr lang="ar-AE" sz="2400" i="1"/>
                        </m:ctrlPr>
                      </m:dPr>
                      <m:e>
                        <m:sSub>
                          <m:sSubPr>
                            <m:ctrlPr>
                              <a:rPr lang="ar-AE" sz="2400" i="1"/>
                            </m:ctrlPr>
                          </m:sSubPr>
                          <m:e>
                            <m:r>
                              <a:rPr lang="ar-AE" sz="2400" i="1"/>
                              <m:t>𝑡</m:t>
                            </m:r>
                          </m:e>
                          <m:sub>
                            <m:r>
                              <a:rPr lang="ar-AE" sz="2400" i="1"/>
                              <m:t>𝑖</m:t>
                            </m:r>
                          </m:sub>
                        </m:sSub>
                      </m:e>
                    </m:d>
                    <m:r>
                      <a:rPr lang="ar-AE" sz="2400"/>
                      <m:t>=</m:t>
                    </m:r>
                    <m:sSub>
                      <m:sSubPr>
                        <m:ctrlPr>
                          <a:rPr lang="ar-AE" sz="2400" i="1"/>
                        </m:ctrlPr>
                      </m:sSubPr>
                      <m:e>
                        <m:r>
                          <a:rPr lang="ar-AE" sz="2400" i="1"/>
                          <m:t>𝑥</m:t>
                        </m:r>
                      </m:e>
                      <m:sub>
                        <m:r>
                          <a:rPr lang="ar-AE" sz="2400"/>
                          <m:t>0</m:t>
                        </m:r>
                      </m:sub>
                    </m:sSub>
                  </m:oMath>
                </a14:m>
                <a:endParaRPr lang="en-US" sz="2400" dirty="0"/>
              </a:p>
              <a:p>
                <a:pPr marL="0" indent="0">
                  <a:buNone/>
                </a:pPr>
                <a:endParaRPr lang="ar-AE" sz="2400" dirty="0"/>
              </a:p>
              <a:p>
                <a:pPr marL="0" indent="0">
                  <a:buNone/>
                </a:pPr>
                <a:r>
                  <a:rPr lang="en-US" sz="2400" dirty="0"/>
                  <a:t>So the correlation definition becomes: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400"/>
                        </m:ctrlPr>
                      </m:sSubPr>
                      <m:e>
                        <m:r>
                          <a:rPr lang="ar-AE" sz="2400" i="1"/>
                          <m:t>𝑅</m:t>
                        </m:r>
                      </m:e>
                      <m:sub>
                        <m:r>
                          <a:rPr lang="ar-AE" sz="2400" i="1"/>
                          <m:t>𝑥𝑥</m:t>
                        </m:r>
                      </m:sub>
                    </m:sSub>
                    <m:d>
                      <m:dPr>
                        <m:ctrlPr>
                          <a:rPr lang="ar-AE" sz="2400" i="1"/>
                        </m:ctrlPr>
                      </m:dPr>
                      <m:e>
                        <m:r>
                          <a:rPr lang="ar-AE" sz="2400" i="1"/>
                          <m:t>𝜏</m:t>
                        </m:r>
                      </m:e>
                    </m:d>
                    <m:r>
                      <a:rPr lang="ar-AE" sz="2400"/>
                      <m:t>=</m:t>
                    </m:r>
                    <m:r>
                      <a:rPr lang="ar-AE" sz="2400" i="1"/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ar-AE" sz="2400" i="1"/>
                        </m:ctrlPr>
                      </m:dPr>
                      <m:e>
                        <m:r>
                          <a:rPr lang="ar-AE" sz="2400" i="1"/>
                          <m:t>𝑥</m:t>
                        </m:r>
                        <m:d>
                          <m:dPr>
                            <m:ctrlPr>
                              <a:rPr lang="ar-AE" sz="2400" i="1"/>
                            </m:ctrlPr>
                          </m:dPr>
                          <m:e>
                            <m:r>
                              <a:rPr lang="ar-AE" sz="2400" i="1"/>
                              <m:t>𝑡</m:t>
                            </m:r>
                          </m:e>
                        </m:d>
                        <m:r>
                          <a:rPr lang="ar-AE" sz="2400" i="1"/>
                          <m:t>𝑥</m:t>
                        </m:r>
                        <m:d>
                          <m:dPr>
                            <m:ctrlPr>
                              <a:rPr lang="ar-AE" sz="2400" i="1"/>
                            </m:ctrlPr>
                          </m:dPr>
                          <m:e>
                            <m:r>
                              <a:rPr lang="ar-AE" sz="2400" i="1"/>
                              <m:t>𝑡</m:t>
                            </m:r>
                            <m:r>
                              <a:rPr lang="ar-AE" sz="2400"/>
                              <m:t>+</m:t>
                            </m:r>
                            <m:r>
                              <a:rPr lang="ar-AE" sz="2400" i="1"/>
                              <m:t>𝜏</m:t>
                            </m:r>
                          </m:e>
                        </m:d>
                      </m:e>
                    </m:d>
                  </m:oMath>
                </a14:m>
                <a:endParaRPr lang="en-US" sz="2400" dirty="0"/>
              </a:p>
              <a:p>
                <a:pPr marL="0" indent="0">
                  <a:buNone/>
                </a:pPr>
                <a:endParaRPr lang="ar-AE" sz="2400" dirty="0"/>
              </a:p>
              <a:p>
                <a:pPr marL="0" indent="0">
                  <a:buNone/>
                </a:pPr>
                <a:r>
                  <a:rPr lang="en-US" sz="2400" dirty="0"/>
                  <a:t>Conditioning on 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/>
                      <m:t>𝑥</m:t>
                    </m:r>
                    <m:d>
                      <m:dPr>
                        <m:ctrlPr>
                          <a:rPr lang="ar-AE" sz="2400" i="1"/>
                        </m:ctrlPr>
                      </m:dPr>
                      <m:e>
                        <m:r>
                          <a:rPr lang="ar-AE" sz="2400" i="1"/>
                          <m:t>𝑡</m:t>
                        </m:r>
                      </m:e>
                    </m:d>
                    <m:r>
                      <a:rPr lang="ar-AE" sz="2400"/>
                      <m:t>=</m:t>
                    </m:r>
                    <m:sSub>
                      <m:sSubPr>
                        <m:ctrlPr>
                          <a:rPr lang="ar-AE" sz="2400" i="1"/>
                        </m:ctrlPr>
                      </m:sSubPr>
                      <m:e>
                        <m:r>
                          <a:rPr lang="ar-AE" sz="2400" i="1"/>
                          <m:t>𝑥</m:t>
                        </m:r>
                      </m:e>
                      <m:sub>
                        <m:r>
                          <a:rPr lang="ar-AE" sz="2400"/>
                          <m:t>0</m:t>
                        </m:r>
                      </m:sub>
                    </m:sSub>
                  </m:oMath>
                </a14:m>
                <a:r>
                  <a:rPr lang="ar-AE" sz="2400" dirty="0"/>
                  <a:t>:</a:t>
                </a:r>
                <a:r>
                  <a:rPr lang="en-US" sz="2400" dirty="0"/>
                  <a:t>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400"/>
                        </m:ctrlPr>
                      </m:sSubPr>
                      <m:e>
                        <m:r>
                          <a:rPr lang="ar-AE" sz="2400" i="1"/>
                          <m:t>𝑅</m:t>
                        </m:r>
                      </m:e>
                      <m:sub>
                        <m:r>
                          <a:rPr lang="ar-AE" sz="2400" i="1"/>
                          <m:t>𝑥𝑥</m:t>
                        </m:r>
                      </m:sub>
                    </m:sSub>
                    <m:d>
                      <m:dPr>
                        <m:ctrlPr>
                          <a:rPr lang="ar-AE" sz="2400" i="1"/>
                        </m:ctrlPr>
                      </m:dPr>
                      <m:e>
                        <m:r>
                          <a:rPr lang="ar-AE" sz="2400" i="1"/>
                          <m:t>𝜏</m:t>
                        </m:r>
                      </m:e>
                    </m:d>
                    <m:r>
                      <a:rPr lang="ar-AE" sz="2400"/>
                      <m:t>=</m:t>
                    </m:r>
                    <m:sSub>
                      <m:sSubPr>
                        <m:ctrlPr>
                          <a:rPr lang="ar-AE" sz="2400" i="1"/>
                        </m:ctrlPr>
                      </m:sSubPr>
                      <m:e>
                        <m:r>
                          <a:rPr lang="ar-AE" sz="2400" i="1"/>
                          <m:t>𝑥</m:t>
                        </m:r>
                      </m:e>
                      <m:sub>
                        <m:r>
                          <a:rPr lang="ar-AE" sz="2400"/>
                          <m:t>0</m:t>
                        </m:r>
                      </m:sub>
                    </m:sSub>
                    <m:r>
                      <a:rPr lang="ar-AE" sz="2400" i="1"/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ar-AE" sz="2400" i="1"/>
                        </m:ctrlPr>
                      </m:dPr>
                      <m:e>
                        <m:r>
                          <a:rPr lang="ar-AE" sz="2400" i="1"/>
                          <m:t>𝑥</m:t>
                        </m:r>
                        <m:d>
                          <m:dPr>
                            <m:ctrlPr>
                              <a:rPr lang="ar-AE" sz="2400" i="1"/>
                            </m:ctrlPr>
                          </m:dPr>
                          <m:e>
                            <m:r>
                              <a:rPr lang="ar-AE" sz="2400" i="1"/>
                              <m:t>𝑡</m:t>
                            </m:r>
                            <m:r>
                              <a:rPr lang="ar-AE" sz="2400"/>
                              <m:t>+</m:t>
                            </m:r>
                            <m:r>
                              <a:rPr lang="ar-AE" sz="2400" i="1"/>
                              <m:t>𝜏</m:t>
                            </m:r>
                          </m:e>
                        </m:d>
                        <m:r>
                          <a:rPr lang="ar-AE" sz="2400"/>
                          <m:t>∣</m:t>
                        </m:r>
                        <m:r>
                          <a:rPr lang="ar-AE" sz="2400" i="1"/>
                          <m:t>𝑥</m:t>
                        </m:r>
                        <m:d>
                          <m:dPr>
                            <m:ctrlPr>
                              <a:rPr lang="ar-AE" sz="2400" i="1"/>
                            </m:ctrlPr>
                          </m:dPr>
                          <m:e>
                            <m:r>
                              <a:rPr lang="ar-AE" sz="2400" i="1"/>
                              <m:t>𝑡</m:t>
                            </m:r>
                          </m:e>
                        </m:d>
                        <m:r>
                          <a:rPr lang="ar-AE" sz="2400"/>
                          <m:t>=</m:t>
                        </m:r>
                        <m:sSub>
                          <m:sSubPr>
                            <m:ctrlPr>
                              <a:rPr lang="ar-AE" sz="2400" i="1"/>
                            </m:ctrlPr>
                          </m:sSubPr>
                          <m:e>
                            <m:r>
                              <a:rPr lang="ar-AE" sz="2400" i="1"/>
                              <m:t>𝑥</m:t>
                            </m:r>
                          </m:e>
                          <m:sub>
                            <m:r>
                              <a:rPr lang="ar-AE" sz="2400"/>
                              <m:t>0</m:t>
                            </m:r>
                          </m:sub>
                        </m:sSub>
                      </m:e>
                    </m:d>
                  </m:oMath>
                </a14:m>
                <a:endParaRPr lang="en-US" sz="2400" dirty="0"/>
              </a:p>
              <a:p>
                <a:pPr marL="0" indent="0">
                  <a:buNone/>
                </a:pPr>
                <a:endParaRPr lang="ar-AE" sz="2400" dirty="0"/>
              </a:p>
              <a:p>
                <a:pPr marL="0" indent="0">
                  <a:buNone/>
                </a:pPr>
                <a:r>
                  <a:rPr lang="en-US" sz="2400" dirty="0"/>
                  <a:t>But </a:t>
                </a:r>
                <a14:m>
                  <m:oMath xmlns:m="http://schemas.openxmlformats.org/officeDocument/2006/math">
                    <m:r>
                      <a:rPr lang="en-US" sz="2400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/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ar-AE" sz="2400" i="1"/>
                        </m:ctrlPr>
                      </m:dPr>
                      <m:e>
                        <m:r>
                          <a:rPr lang="ar-AE" sz="2400" i="1"/>
                          <m:t>𝑥</m:t>
                        </m:r>
                        <m:d>
                          <m:dPr>
                            <m:ctrlPr>
                              <a:rPr lang="ar-AE" sz="2400" i="1"/>
                            </m:ctrlPr>
                          </m:dPr>
                          <m:e>
                            <m:r>
                              <a:rPr lang="ar-AE" sz="2400" i="1"/>
                              <m:t>𝑡</m:t>
                            </m:r>
                            <m:r>
                              <a:rPr lang="ar-AE" sz="2400"/>
                              <m:t>+</m:t>
                            </m:r>
                            <m:r>
                              <a:rPr lang="ar-AE" sz="2400" i="1"/>
                              <m:t>𝜏</m:t>
                            </m:r>
                          </m:e>
                        </m:d>
                        <m:r>
                          <a:rPr lang="ar-AE" sz="2400"/>
                          <m:t>∣</m:t>
                        </m:r>
                        <m:r>
                          <a:rPr lang="ar-AE" sz="2400" i="1"/>
                          <m:t>𝑥</m:t>
                        </m:r>
                        <m:d>
                          <m:dPr>
                            <m:ctrlPr>
                              <a:rPr lang="ar-AE" sz="2400" i="1"/>
                            </m:ctrlPr>
                          </m:dPr>
                          <m:e>
                            <m:r>
                              <a:rPr lang="ar-AE" sz="2400" i="1"/>
                              <m:t>𝑡</m:t>
                            </m:r>
                          </m:e>
                        </m:d>
                        <m:r>
                          <a:rPr lang="ar-AE" sz="2400"/>
                          <m:t>=</m:t>
                        </m:r>
                        <m:sSub>
                          <m:sSubPr>
                            <m:ctrlPr>
                              <a:rPr lang="ar-AE" sz="2400" i="1"/>
                            </m:ctrlPr>
                          </m:sSubPr>
                          <m:e>
                            <m:r>
                              <a:rPr lang="ar-AE" sz="2400" i="1"/>
                              <m:t>𝑥</m:t>
                            </m:r>
                          </m:e>
                          <m:sub>
                            <m:r>
                              <a:rPr lang="ar-AE" sz="2400"/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400" dirty="0"/>
                  <a:t>  is exactly what averaging the segments.</a:t>
                </a:r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Thus  </a:t>
                </a:r>
                <a14:m>
                  <m:oMath xmlns:m="http://schemas.openxmlformats.org/officeDocument/2006/math">
                    <m:r>
                      <a:rPr lang="en-US" sz="2400" i="1"/>
                      <m:t>𝛿</m:t>
                    </m:r>
                    <m:d>
                      <m:dPr>
                        <m:ctrlPr>
                          <a:rPr lang="ar-AE" sz="2400" i="1"/>
                        </m:ctrlPr>
                      </m:dPr>
                      <m:e>
                        <m:r>
                          <a:rPr lang="ar-AE" sz="2400" i="1"/>
                          <m:t>𝜏</m:t>
                        </m:r>
                      </m:e>
                    </m:d>
                    <m:r>
                      <a:rPr lang="ar-AE" sz="2400"/>
                      <m:t>∝</m:t>
                    </m:r>
                    <m:sSub>
                      <m:sSubPr>
                        <m:ctrlPr>
                          <a:rPr lang="ar-AE" sz="2400" i="1"/>
                        </m:ctrlPr>
                      </m:sSubPr>
                      <m:e>
                        <m:r>
                          <a:rPr lang="ar-AE" sz="2400" i="1"/>
                          <m:t>𝑅</m:t>
                        </m:r>
                      </m:e>
                      <m:sub>
                        <m:r>
                          <a:rPr lang="ar-AE" sz="2400" i="1"/>
                          <m:t>𝑥𝑥</m:t>
                        </m:r>
                      </m:sub>
                    </m:sSub>
                    <m:d>
                      <m:dPr>
                        <m:ctrlPr>
                          <a:rPr lang="ar-AE" sz="2400" i="1"/>
                        </m:ctrlPr>
                      </m:dPr>
                      <m:e>
                        <m:r>
                          <a:rPr lang="ar-AE" sz="2400" i="1"/>
                          <m:t>𝜏</m:t>
                        </m:r>
                      </m:e>
                    </m:d>
                  </m:oMath>
                </a14:m>
                <a:endParaRPr lang="en-US" sz="2400" dirty="0"/>
              </a:p>
              <a:p>
                <a:pPr marL="0" indent="0">
                  <a:buNone/>
                </a:pPr>
                <a:endParaRPr lang="ar-AE" sz="2400" dirty="0"/>
              </a:p>
              <a:p>
                <a:pPr marL="0" indent="0">
                  <a:buNone/>
                </a:pPr>
                <a:r>
                  <a:rPr lang="en-US" sz="2400" dirty="0"/>
                  <a:t>More precisely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:       </m:t>
                    </m:r>
                    <m:r>
                      <a:rPr lang="en-US" sz="2400" i="1"/>
                      <m:t>𝛿</m:t>
                    </m:r>
                    <m:d>
                      <m:dPr>
                        <m:ctrlPr>
                          <a:rPr lang="ar-AE" sz="2400" i="1"/>
                        </m:ctrlPr>
                      </m:dPr>
                      <m:e>
                        <m:r>
                          <a:rPr lang="ar-AE" sz="2400" i="1"/>
                          <m:t>𝜏</m:t>
                        </m:r>
                      </m:e>
                    </m:d>
                    <m:r>
                      <a:rPr lang="ar-AE" sz="2400"/>
                      <m:t>=</m:t>
                    </m:r>
                    <m:f>
                      <m:fPr>
                        <m:ctrlPr>
                          <a:rPr lang="ar-AE" sz="2400" i="1"/>
                        </m:ctrlPr>
                      </m:fPr>
                      <m:num>
                        <m:r>
                          <a:rPr lang="ar-AE" sz="2400"/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ar-AE" sz="2400" i="1"/>
                            </m:ctrlPr>
                          </m:sSubPr>
                          <m:e>
                            <m:r>
                              <a:rPr lang="ar-AE" sz="2400" i="1"/>
                              <m:t>𝑥</m:t>
                            </m:r>
                          </m:e>
                          <m:sub>
                            <m:r>
                              <a:rPr lang="ar-AE" sz="2400"/>
                              <m:t>0</m:t>
                            </m:r>
                          </m:sub>
                        </m:sSub>
                      </m:den>
                    </m:f>
                    <m:sSub>
                      <m:sSubPr>
                        <m:ctrlPr>
                          <a:rPr lang="ar-AE" sz="2400" i="1"/>
                        </m:ctrlPr>
                      </m:sSubPr>
                      <m:e>
                        <m:r>
                          <a:rPr lang="ar-AE" sz="2400" i="1"/>
                          <m:t>𝑅</m:t>
                        </m:r>
                      </m:e>
                      <m:sub>
                        <m:r>
                          <a:rPr lang="ar-AE" sz="2400" i="1"/>
                          <m:t>𝑥𝑥</m:t>
                        </m:r>
                      </m:sub>
                    </m:sSub>
                    <m:d>
                      <m:dPr>
                        <m:ctrlPr>
                          <a:rPr lang="ar-AE" sz="2400" i="1"/>
                        </m:ctrlPr>
                      </m:dPr>
                      <m:e>
                        <m:r>
                          <a:rPr lang="ar-AE" sz="2400" i="1"/>
                          <m:t>𝜏</m:t>
                        </m:r>
                      </m:e>
                    </m:d>
                  </m:oMath>
                </a14:m>
                <a:endParaRPr lang="ar-AE" sz="2400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6CB99AE-4736-391D-9F1A-DA9CCAF950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984" y="1115345"/>
                <a:ext cx="11713854" cy="5297812"/>
              </a:xfrm>
              <a:prstGeom prst="rect">
                <a:avLst/>
              </a:prstGeom>
              <a:blipFill>
                <a:blip r:embed="rId2"/>
                <a:stretch>
                  <a:fillRect l="-867" t="-14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B4C52596-E9E4-03CE-090E-B77FCDE919B4}"/>
              </a:ext>
            </a:extLst>
          </p:cNvPr>
          <p:cNvSpPr txBox="1"/>
          <p:nvPr/>
        </p:nvSpPr>
        <p:spPr>
          <a:xfrm>
            <a:off x="9860692" y="5202195"/>
            <a:ext cx="125604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Self-study</a:t>
            </a:r>
          </a:p>
        </p:txBody>
      </p:sp>
    </p:spTree>
    <p:extLst>
      <p:ext uri="{BB962C8B-B14F-4D97-AF65-F5344CB8AC3E}">
        <p14:creationId xmlns:p14="http://schemas.microsoft.com/office/powerpoint/2010/main" val="31336875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graph&#10;&#10;AI-generated content may be incorrect.">
            <a:extLst>
              <a:ext uri="{FF2B5EF4-FFF2-40B4-BE49-F238E27FC236}">
                <a16:creationId xmlns:a16="http://schemas.microsoft.com/office/drawing/2014/main" id="{BD5E2F2C-DB03-84A9-FC2C-30D332E4EC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9452" y="111993"/>
            <a:ext cx="7187514" cy="5983606"/>
          </a:xfrm>
          <a:prstGeom prst="rect">
            <a:avLst/>
          </a:prstGeom>
          <a:noFill/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F9C1DB1-E0F7-AFAE-4C57-901BBC8E0541}"/>
                  </a:ext>
                </a:extLst>
              </p:cNvPr>
              <p:cNvSpPr txBox="1"/>
              <p:nvPr/>
            </p:nvSpPr>
            <p:spPr>
              <a:xfrm>
                <a:off x="105034" y="2277413"/>
                <a:ext cx="6098058" cy="20621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sz="1600" b="1" dirty="0"/>
                  <a:t>Common RD Triggering Methods</a:t>
                </a:r>
              </a:p>
              <a:p>
                <a:pPr>
                  <a:buNone/>
                </a:pPr>
                <a:endParaRPr lang="en-US" sz="16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dirty="0"/>
                  <a:t>Upward level crossing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dirty="0"/>
                  <a:t>Downward level crossing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dirty="0"/>
                  <a:t>Bidirectional level crossing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dirty="0"/>
                  <a:t>Absolute amplitude trigger </a:t>
                </a:r>
                <a14:m>
                  <m:oMath xmlns:m="http://schemas.openxmlformats.org/officeDocument/2006/math">
                    <m:r>
                      <a:rPr lang="en-US" sz="1600">
                        <a:latin typeface="Cambria Math" panose="02040503050406030204" pitchFamily="18" charset="0"/>
                      </a:rPr>
                      <m:t>∣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∣=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endParaRPr lang="en-US" sz="16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dirty="0"/>
                  <a:t>Peak (local maximum) trigger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dirty="0"/>
                  <a:t>Multi-condition trigger (e.g.,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600" dirty="0"/>
                  <a:t>and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ar-AE" sz="1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ar-AE" sz="1600" i="0">
                        <a:latin typeface="Cambria Math" panose="02040503050406030204" pitchFamily="18" charset="0"/>
                      </a:rPr>
                      <m:t>&gt;0</m:t>
                    </m:r>
                    <m:r>
                      <a:rPr lang="en-US" sz="1600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ar-AE" sz="16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F9C1DB1-E0F7-AFAE-4C57-901BBC8E05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034" y="2277413"/>
                <a:ext cx="6098058" cy="2062103"/>
              </a:xfrm>
              <a:prstGeom prst="rect">
                <a:avLst/>
              </a:prstGeom>
              <a:blipFill>
                <a:blip r:embed="rId3"/>
                <a:stretch>
                  <a:fillRect l="-624" t="-613" b="-24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05341F42-2D11-C277-A02E-3304B21D4307}"/>
              </a:ext>
            </a:extLst>
          </p:cNvPr>
          <p:cNvSpPr txBox="1"/>
          <p:nvPr/>
        </p:nvSpPr>
        <p:spPr>
          <a:xfrm>
            <a:off x="222422" y="6304881"/>
            <a:ext cx="776004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Vesterholm, Karsten Krautwald. "Random Decrement Based Vibration Analysis of Nonlinear Systems." (2021).</a:t>
            </a:r>
            <a:endParaRPr lang="en-US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ED1AA3-8468-0CC3-F5CC-A82A6E791E3B}"/>
              </a:ext>
            </a:extLst>
          </p:cNvPr>
          <p:cNvSpPr txBox="1"/>
          <p:nvPr/>
        </p:nvSpPr>
        <p:spPr>
          <a:xfrm>
            <a:off x="105034" y="111993"/>
            <a:ext cx="60980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Simulation results for Random Decrement</a:t>
            </a:r>
            <a:endParaRPr lang="ar-AE" sz="2000" dirty="0"/>
          </a:p>
        </p:txBody>
      </p:sp>
    </p:spTree>
    <p:extLst>
      <p:ext uri="{BB962C8B-B14F-4D97-AF65-F5344CB8AC3E}">
        <p14:creationId xmlns:p14="http://schemas.microsoft.com/office/powerpoint/2010/main" val="12075906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C659C-C83E-8636-254B-930170250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use RD signatures?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CDAD2D9-0761-5E6D-7106-825332852634}"/>
                  </a:ext>
                </a:extLst>
              </p:cNvPr>
              <p:cNvSpPr txBox="1"/>
              <p:nvPr/>
            </p:nvSpPr>
            <p:spPr>
              <a:xfrm>
                <a:off x="550624" y="2089035"/>
                <a:ext cx="4812208" cy="30130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dirty="0"/>
                  <a:t>Estimate the </a:t>
                </a:r>
                <a:r>
                  <a:rPr lang="en-US" b="1" dirty="0"/>
                  <a:t>damped period</a:t>
                </a:r>
                <a:r>
                  <a:rPr lang="en-US" dirty="0"/>
                  <a:t> from peak spacing:</a:t>
                </a:r>
              </a:p>
              <a:p>
                <a:pPr>
                  <a:buNone/>
                </a:pPr>
                <a:endParaRPr lang="en-US" dirty="0"/>
              </a:p>
              <a:p>
                <a:pPr marL="342900" indent="-342900"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i="1"/>
                        </m:ctrlPr>
                      </m:sSubPr>
                      <m:e>
                        <m:r>
                          <a:rPr lang="ar-AE" i="1"/>
                          <m:t>𝑇</m:t>
                        </m:r>
                      </m:e>
                      <m:sub>
                        <m:r>
                          <a:rPr lang="ar-AE" i="1"/>
                          <m:t>𝑑</m:t>
                        </m:r>
                      </m:sub>
                    </m:sSub>
                    <m:r>
                      <a:rPr lang="ar-AE" i="0"/>
                      <m:t>=</m:t>
                    </m:r>
                    <m:sSub>
                      <m:sSubPr>
                        <m:ctrlPr>
                          <a:rPr lang="ar-AE" i="1"/>
                        </m:ctrlPr>
                      </m:sSubPr>
                      <m:e>
                        <m:r>
                          <a:rPr lang="ar-AE" i="1"/>
                          <m:t>𝜏</m:t>
                        </m:r>
                      </m:e>
                      <m:sub>
                        <m:r>
                          <a:rPr lang="ar-AE" i="1"/>
                          <m:t>𝑖</m:t>
                        </m:r>
                        <m:r>
                          <a:rPr lang="ar-AE" i="0"/>
                          <m:t>+1</m:t>
                        </m:r>
                      </m:sub>
                    </m:sSub>
                    <m:r>
                      <a:rPr lang="ar-AE" i="0"/>
                      <m:t>−</m:t>
                    </m:r>
                    <m:sSub>
                      <m:sSubPr>
                        <m:ctrlPr>
                          <a:rPr lang="ar-AE" i="1"/>
                        </m:ctrlPr>
                      </m:sSubPr>
                      <m:e>
                        <m:r>
                          <a:rPr lang="ar-AE" i="1"/>
                          <m:t>𝜏</m:t>
                        </m:r>
                      </m:e>
                      <m:sub>
                        <m:r>
                          <a:rPr lang="ar-AE" i="1"/>
                          <m:t>𝑖</m:t>
                        </m:r>
                      </m:sub>
                    </m:sSub>
                    <m:r>
                      <a:rPr lang="en-US" b="0" i="0" smtClean="0"/>
                      <m:t>, </m:t>
                    </m:r>
                  </m:oMath>
                </a14:m>
                <a:endParaRPr lang="en-US" b="0" i="0" dirty="0"/>
              </a:p>
              <a:p>
                <a:pPr marL="342900" indent="-342900">
                  <a:buFont typeface="+mj-lt"/>
                  <a:buAutoNum type="arabicPeriod"/>
                </a:pPr>
                <a:endParaRPr lang="en-US" b="0" i="0" dirty="0"/>
              </a:p>
              <a:p>
                <a:pPr marL="342900" indent="-342900"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i="1"/>
                        </m:ctrlPr>
                      </m:sSubPr>
                      <m:e>
                        <m:r>
                          <a:rPr lang="ar-AE" i="1"/>
                          <m:t>𝑓</m:t>
                        </m:r>
                      </m:e>
                      <m:sub>
                        <m:r>
                          <a:rPr lang="ar-AE" i="1"/>
                          <m:t>𝑑</m:t>
                        </m:r>
                      </m:sub>
                    </m:sSub>
                    <m:r>
                      <a:rPr lang="ar-AE" i="0"/>
                      <m:t>=</m:t>
                    </m:r>
                    <m:f>
                      <m:fPr>
                        <m:ctrlPr>
                          <a:rPr lang="ar-AE" i="1"/>
                        </m:ctrlPr>
                      </m:fPr>
                      <m:num>
                        <m:r>
                          <a:rPr lang="ar-AE" i="0"/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ar-AE" i="1"/>
                            </m:ctrlPr>
                          </m:sSubPr>
                          <m:e>
                            <m:r>
                              <a:rPr lang="ar-AE" i="1"/>
                              <m:t>𝑇</m:t>
                            </m:r>
                          </m:e>
                          <m:sub>
                            <m:r>
                              <a:rPr lang="ar-AE" i="1"/>
                              <m:t>𝑑</m:t>
                            </m:r>
                          </m:sub>
                        </m:sSub>
                      </m:den>
                    </m:f>
                  </m:oMath>
                </a14:m>
                <a:endParaRPr lang="en-US" i="1" dirty="0"/>
              </a:p>
              <a:p>
                <a:pPr marL="342900" indent="-342900">
                  <a:buFont typeface="+mj-lt"/>
                  <a:buAutoNum type="arabicPeriod"/>
                </a:pPr>
                <a:endParaRPr lang="en-US" i="1" dirty="0"/>
              </a:p>
              <a:p>
                <a:pPr marL="342900" indent="-342900"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i="1"/>
                        </m:ctrlPr>
                      </m:sSubPr>
                      <m:e>
                        <m:r>
                          <a:rPr lang="ar-AE" i="1"/>
                          <m:t>𝜔</m:t>
                        </m:r>
                      </m:e>
                      <m:sub>
                        <m:r>
                          <a:rPr lang="ar-AE" i="1"/>
                          <m:t>𝑑</m:t>
                        </m:r>
                      </m:sub>
                    </m:sSub>
                    <m:r>
                      <a:rPr lang="ar-AE" i="0"/>
                      <m:t>=2</m:t>
                    </m:r>
                    <m:r>
                      <a:rPr lang="ar-AE" i="1"/>
                      <m:t>𝜋</m:t>
                    </m:r>
                    <m:sSub>
                      <m:sSubPr>
                        <m:ctrlPr>
                          <a:rPr lang="ar-AE" i="1"/>
                        </m:ctrlPr>
                      </m:sSubPr>
                      <m:e>
                        <m:r>
                          <a:rPr lang="ar-AE" i="1"/>
                          <m:t>𝑓</m:t>
                        </m:r>
                      </m:e>
                      <m:sub>
                        <m:r>
                          <a:rPr lang="ar-AE" i="1"/>
                          <m:t>𝑑</m:t>
                        </m:r>
                      </m:sub>
                    </m:sSub>
                  </m:oMath>
                </a14:m>
                <a:endParaRPr lang="en-US" dirty="0"/>
              </a:p>
              <a:p>
                <a:pPr/>
                <a:endParaRPr lang="ar-AE" dirty="0"/>
              </a:p>
              <a:p>
                <a:pPr>
                  <a:buNone/>
                </a:pPr>
                <a:r>
                  <a:rPr lang="en-US" dirty="0"/>
                  <a:t>For lightly damped systems: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/>
                        </m:ctrlPr>
                      </m:sSubPr>
                      <m:e>
                        <m:r>
                          <a:rPr lang="ar-AE" i="1"/>
                          <m:t>𝜔</m:t>
                        </m:r>
                      </m:e>
                      <m:sub>
                        <m:r>
                          <a:rPr lang="ar-AE" i="1"/>
                          <m:t>𝑛</m:t>
                        </m:r>
                      </m:sub>
                    </m:sSub>
                    <m:r>
                      <a:rPr lang="ar-AE" i="0"/>
                      <m:t>≈</m:t>
                    </m:r>
                    <m:sSub>
                      <m:sSubPr>
                        <m:ctrlPr>
                          <a:rPr lang="ar-AE" i="1"/>
                        </m:ctrlPr>
                      </m:sSubPr>
                      <m:e>
                        <m:r>
                          <a:rPr lang="ar-AE" i="1"/>
                          <m:t>𝜔</m:t>
                        </m:r>
                      </m:e>
                      <m:sub>
                        <m:r>
                          <a:rPr lang="ar-AE" i="1"/>
                          <m:t>𝑑</m:t>
                        </m:r>
                      </m:sub>
                    </m:sSub>
                  </m:oMath>
                </a14:m>
                <a:endParaRPr lang="ar-AE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CDAD2D9-0761-5E6D-7106-8253328526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624" y="2089035"/>
                <a:ext cx="4812208" cy="3013069"/>
              </a:xfrm>
              <a:prstGeom prst="rect">
                <a:avLst/>
              </a:prstGeom>
              <a:blipFill>
                <a:blip r:embed="rId2"/>
                <a:stretch>
                  <a:fillRect l="-1053" t="-840" b="-2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A6DACA1-6B2B-0905-66F9-17D2208C0EE4}"/>
                  </a:ext>
                </a:extLst>
              </p:cNvPr>
              <p:cNvSpPr txBox="1"/>
              <p:nvPr/>
            </p:nvSpPr>
            <p:spPr>
              <a:xfrm>
                <a:off x="6018513" y="2065065"/>
                <a:ext cx="5994571" cy="39558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b="1" dirty="0"/>
                  <a:t>Logarithmic Decrement</a:t>
                </a:r>
              </a:p>
              <a:p>
                <a:pPr>
                  <a:buNone/>
                </a:pPr>
                <a:endParaRPr lang="en-US" b="1" dirty="0"/>
              </a:p>
              <a:p>
                <a:pPr>
                  <a:buNone/>
                </a:pPr>
                <a:r>
                  <a:rPr lang="en-US" dirty="0"/>
                  <a:t>Using peak amplitudes of the RD signal: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ar-AE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ar-AE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ar-AE" dirty="0"/>
              </a:p>
              <a:p>
                <a:pPr>
                  <a:buNone/>
                </a:pPr>
                <a:r>
                  <a:rPr lang="en-US" dirty="0"/>
                  <a:t>Using multiple cycles: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func>
                        <m:func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ar-AE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ar-AE" i="0"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br>
                  <a:rPr lang="ar-AE" dirty="0"/>
                </a:br>
                <a:endParaRPr lang="ar-AE" dirty="0"/>
              </a:p>
              <a:p>
                <a:pPr>
                  <a:buNone/>
                </a:pPr>
                <a:r>
                  <a:rPr lang="en-US" b="1" dirty="0"/>
                  <a:t>Damping Ratio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𝜁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𝛿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sSup>
                                <m:sSup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p>
                                  <m:r>
                                    <a:rPr lang="ar-AE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𝛿</m:t>
                                  </m:r>
                                </m:e>
                                <m:sup>
                                  <m:r>
                                    <a:rPr lang="ar-AE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</m:oMath>
                  </m:oMathPara>
                </a14:m>
                <a:endParaRPr lang="ar-AE" dirty="0"/>
              </a:p>
              <a:p>
                <a:pPr>
                  <a:buNone/>
                </a:pPr>
                <a:r>
                  <a:rPr lang="en-US" dirty="0"/>
                  <a:t>For small damping: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𝜁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𝛿</m:t>
                          </m:r>
                        </m:num>
                        <m:den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</m:oMath>
                  </m:oMathPara>
                </a14:m>
                <a:endParaRPr lang="ar-AE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A6DACA1-6B2B-0905-66F9-17D2208C0E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8513" y="2065065"/>
                <a:ext cx="5994571" cy="3955827"/>
              </a:xfrm>
              <a:prstGeom prst="rect">
                <a:avLst/>
              </a:prstGeom>
              <a:blipFill>
                <a:blip r:embed="rId3"/>
                <a:stretch>
                  <a:fillRect l="-844" t="-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1EC61436-0A25-9BE2-A982-7DBE687CADBD}"/>
              </a:ext>
            </a:extLst>
          </p:cNvPr>
          <p:cNvSpPr txBox="1"/>
          <p:nvPr/>
        </p:nvSpPr>
        <p:spPr>
          <a:xfrm>
            <a:off x="756852" y="1338555"/>
            <a:ext cx="26906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Natural Frequency 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05B4E8-01C8-5736-B80A-7E8953DC5768}"/>
              </a:ext>
            </a:extLst>
          </p:cNvPr>
          <p:cNvSpPr txBox="1"/>
          <p:nvPr/>
        </p:nvSpPr>
        <p:spPr>
          <a:xfrm>
            <a:off x="6325116" y="1338555"/>
            <a:ext cx="26906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Damping Ratio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531B9AF-E66D-15AC-1C2D-A99F4AC04A1D}"/>
              </a:ext>
            </a:extLst>
          </p:cNvPr>
          <p:cNvCxnSpPr>
            <a:cxnSpLocks/>
          </p:cNvCxnSpPr>
          <p:nvPr/>
        </p:nvCxnSpPr>
        <p:spPr>
          <a:xfrm>
            <a:off x="5362832" y="1338555"/>
            <a:ext cx="0" cy="48892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67960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AC6018-720E-3935-7261-44BFE3A5E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DF8DD9DD-8382-F6CE-E1B0-4D524EF6D2D1}"/>
              </a:ext>
            </a:extLst>
          </p:cNvPr>
          <p:cNvSpPr txBox="1"/>
          <p:nvPr/>
        </p:nvSpPr>
        <p:spPr>
          <a:xfrm>
            <a:off x="105034" y="111993"/>
            <a:ext cx="60980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Simulation results for Random Decrement</a:t>
            </a:r>
            <a:endParaRPr lang="ar-AE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C1CCCB9-880E-A68F-DCEE-CC72D0586D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2863" y="1459544"/>
            <a:ext cx="6297288" cy="523713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C6961AD-1F90-4ED1-9DC5-395B8710E241}"/>
                  </a:ext>
                </a:extLst>
              </p:cNvPr>
              <p:cNvSpPr txBox="1"/>
              <p:nvPr/>
            </p:nvSpPr>
            <p:spPr>
              <a:xfrm>
                <a:off x="379971" y="1314300"/>
                <a:ext cx="6098058" cy="50697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sz="1600" b="1" dirty="0"/>
                  <a:t>Damped period from peaks</a:t>
                </a:r>
              </a:p>
              <a:p>
                <a:pPr>
                  <a:buNone/>
                </a:pPr>
                <a:endParaRPr lang="en-US" sz="1600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1600" i="1"/>
                          </m:ctrlPr>
                        </m:sSubPr>
                        <m:e>
                          <m:r>
                            <a:rPr lang="ar-AE" sz="1600" i="1"/>
                            <m:t>𝑇</m:t>
                          </m:r>
                        </m:e>
                        <m:sub>
                          <m:r>
                            <a:rPr lang="ar-AE" sz="1600" i="1"/>
                            <m:t>𝑑</m:t>
                          </m:r>
                        </m:sub>
                      </m:sSub>
                      <m:r>
                        <a:rPr lang="ar-AE" sz="1600" i="0"/>
                        <m:t>≈1.26−0.63≈0.63</m:t>
                      </m:r>
                      <m:r>
                        <m:rPr>
                          <m:nor/>
                        </m:rPr>
                        <a:rPr lang="ar-AE" sz="1600" b="0" i="1"/>
                        <m:t> </m:t>
                      </m:r>
                      <m:r>
                        <m:rPr>
                          <m:nor/>
                        </m:rPr>
                        <a:rPr lang="en-US" sz="1600" b="0" i="1"/>
                        <m:t>s</m:t>
                      </m:r>
                    </m:oMath>
                  </m:oMathPara>
                </a14:m>
                <a:endParaRPr lang="en-US" sz="1600" b="0" dirty="0"/>
              </a:p>
              <a:p>
                <a:pPr>
                  <a:buNone/>
                </a:pPr>
                <a:endParaRPr lang="en-US" sz="1600" b="0" dirty="0"/>
              </a:p>
              <a:p>
                <a:pPr>
                  <a:buNone/>
                </a:pPr>
                <a:r>
                  <a:rPr lang="en-US" sz="1600" b="1" dirty="0"/>
                  <a:t>Natural frequency</a:t>
                </a:r>
                <a:endParaRPr lang="en-US" sz="1600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1600" i="1"/>
                          </m:ctrlPr>
                        </m:sSubPr>
                        <m:e>
                          <m:r>
                            <a:rPr lang="ar-AE" sz="1600" i="1"/>
                            <m:t>𝑓</m:t>
                          </m:r>
                        </m:e>
                        <m:sub>
                          <m:r>
                            <a:rPr lang="ar-AE" sz="1600" i="1"/>
                            <m:t>𝑛</m:t>
                          </m:r>
                        </m:sub>
                      </m:sSub>
                      <m:r>
                        <a:rPr lang="ar-AE" sz="1600" i="0"/>
                        <m:t>≈</m:t>
                      </m:r>
                      <m:sSub>
                        <m:sSubPr>
                          <m:ctrlPr>
                            <a:rPr lang="ar-AE" sz="1600" i="1"/>
                          </m:ctrlPr>
                        </m:sSubPr>
                        <m:e>
                          <m:r>
                            <a:rPr lang="ar-AE" sz="1600" i="1"/>
                            <m:t>𝑓</m:t>
                          </m:r>
                        </m:e>
                        <m:sub>
                          <m:r>
                            <a:rPr lang="ar-AE" sz="1600" i="1"/>
                            <m:t>𝑑</m:t>
                          </m:r>
                        </m:sub>
                      </m:sSub>
                      <m:r>
                        <a:rPr lang="ar-AE" sz="1600" i="0"/>
                        <m:t>=</m:t>
                      </m:r>
                      <m:f>
                        <m:fPr>
                          <m:ctrlPr>
                            <a:rPr lang="ar-AE" sz="1600" i="1"/>
                          </m:ctrlPr>
                        </m:fPr>
                        <m:num>
                          <m:r>
                            <a:rPr lang="ar-AE" sz="1600" i="0"/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ar-AE" sz="1600" i="1"/>
                              </m:ctrlPr>
                            </m:sSubPr>
                            <m:e>
                              <m:r>
                                <a:rPr lang="ar-AE" sz="1600" i="1"/>
                                <m:t>𝑇</m:t>
                              </m:r>
                            </m:e>
                            <m:sub>
                              <m:r>
                                <a:rPr lang="ar-AE" sz="1600" i="1"/>
                                <m:t>𝑑</m:t>
                              </m:r>
                            </m:sub>
                          </m:sSub>
                        </m:den>
                      </m:f>
                      <m:r>
                        <a:rPr lang="ar-AE" sz="1600" i="0"/>
                        <m:t>=</m:t>
                      </m:r>
                      <m:f>
                        <m:fPr>
                          <m:ctrlPr>
                            <a:rPr lang="ar-AE" sz="1600" i="1"/>
                          </m:ctrlPr>
                        </m:fPr>
                        <m:num>
                          <m:r>
                            <a:rPr lang="ar-AE" sz="1600" i="0"/>
                            <m:t>1</m:t>
                          </m:r>
                        </m:num>
                        <m:den>
                          <m:r>
                            <a:rPr lang="ar-AE" sz="1600" i="0"/>
                            <m:t>0.63</m:t>
                          </m:r>
                        </m:den>
                      </m:f>
                      <m:r>
                        <a:rPr lang="ar-AE" sz="1600" i="0"/>
                        <m:t>≈1.6</m:t>
                      </m:r>
                      <m:r>
                        <m:rPr>
                          <m:nor/>
                        </m:rPr>
                        <a:rPr lang="ar-AE" sz="1600" b="0" i="1"/>
                        <m:t> </m:t>
                      </m:r>
                      <m:r>
                        <m:rPr>
                          <m:nor/>
                        </m:rPr>
                        <a:rPr lang="en-US" sz="1600" b="0" i="1"/>
                        <m:t>Hz</m:t>
                      </m:r>
                    </m:oMath>
                  </m:oMathPara>
                </a14:m>
                <a:endParaRPr lang="en-US" sz="1600" b="0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1600" i="1"/>
                          </m:ctrlPr>
                        </m:sSubPr>
                        <m:e>
                          <m:r>
                            <a:rPr lang="ar-AE" sz="1600" i="1"/>
                            <m:t>𝜔</m:t>
                          </m:r>
                        </m:e>
                        <m:sub>
                          <m:r>
                            <a:rPr lang="ar-AE" sz="1600" i="1"/>
                            <m:t>𝑛</m:t>
                          </m:r>
                        </m:sub>
                      </m:sSub>
                      <m:r>
                        <a:rPr lang="ar-AE" sz="1600" i="0"/>
                        <m:t>≈2</m:t>
                      </m:r>
                      <m:r>
                        <a:rPr lang="ar-AE" sz="1600" i="1"/>
                        <m:t>𝜋</m:t>
                      </m:r>
                      <m:sSub>
                        <m:sSubPr>
                          <m:ctrlPr>
                            <a:rPr lang="ar-AE" sz="1600" i="1"/>
                          </m:ctrlPr>
                        </m:sSubPr>
                        <m:e>
                          <m:r>
                            <a:rPr lang="ar-AE" sz="1600" i="1"/>
                            <m:t>𝑓</m:t>
                          </m:r>
                        </m:e>
                        <m:sub>
                          <m:r>
                            <a:rPr lang="ar-AE" sz="1600" i="1"/>
                            <m:t>𝑛</m:t>
                          </m:r>
                        </m:sub>
                      </m:sSub>
                      <m:r>
                        <a:rPr lang="ar-AE" sz="1600" i="0"/>
                        <m:t>≈10.1</m:t>
                      </m:r>
                      <m:r>
                        <m:rPr>
                          <m:nor/>
                        </m:rPr>
                        <a:rPr lang="ar-AE" sz="1600" b="0" i="1"/>
                        <m:t> </m:t>
                      </m:r>
                      <m:r>
                        <m:rPr>
                          <m:nor/>
                        </m:rPr>
                        <a:rPr lang="en-US" sz="1600" b="0" i="1"/>
                        <m:t>rad</m:t>
                      </m:r>
                      <m:r>
                        <m:rPr>
                          <m:nor/>
                        </m:rPr>
                        <a:rPr lang="en-US" sz="1600" b="0" i="1"/>
                        <m:t>/</m:t>
                      </m:r>
                      <m:r>
                        <m:rPr>
                          <m:nor/>
                        </m:rPr>
                        <a:rPr lang="en-US" sz="1600" b="0" i="1"/>
                        <m:t>s</m:t>
                      </m:r>
                    </m:oMath>
                  </m:oMathPara>
                </a14:m>
                <a:endParaRPr lang="en-US" sz="1600" b="0" dirty="0"/>
              </a:p>
              <a:p>
                <a:pPr>
                  <a:buNone/>
                </a:pPr>
                <a:endParaRPr lang="en-US" sz="1600" b="0" dirty="0"/>
              </a:p>
              <a:p>
                <a:pPr>
                  <a:buNone/>
                </a:pPr>
                <a:endParaRPr lang="en-US" sz="1600" b="0" dirty="0"/>
              </a:p>
              <a:p>
                <a:pPr>
                  <a:buNone/>
                </a:pPr>
                <a:r>
                  <a:rPr lang="en-US" sz="1600" b="1" dirty="0"/>
                  <a:t>Logarithmic decrement</a:t>
                </a:r>
              </a:p>
              <a:p>
                <a:pPr>
                  <a:buNone/>
                </a:pPr>
                <a:endParaRPr lang="en-US" sz="1600" dirty="0"/>
              </a:p>
              <a:p>
                <a:pPr>
                  <a:buNone/>
                </a:pPr>
                <a:r>
                  <a:rPr lang="en-US" sz="1600" dirty="0"/>
                  <a:t>Using two peaks</a:t>
                </a:r>
                <a:br>
                  <a:rPr lang="en-US" sz="1600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1600" i="1"/>
                          </m:ctrlPr>
                        </m:sSubPr>
                        <m:e>
                          <m:r>
                            <a:rPr lang="ar-AE" sz="1600" i="1"/>
                            <m:t>𝑥</m:t>
                          </m:r>
                        </m:e>
                        <m:sub>
                          <m:r>
                            <a:rPr lang="ar-AE" sz="1600" i="0"/>
                            <m:t>1</m:t>
                          </m:r>
                        </m:sub>
                      </m:sSub>
                      <m:r>
                        <a:rPr lang="ar-AE" sz="1600" i="0"/>
                        <m:t>≈0.016,</m:t>
                      </m:r>
                      <m:r>
                        <m:rPr>
                          <m:nor/>
                        </m:rPr>
                        <a:rPr lang="ar-AE" sz="1600" b="0" i="1"/>
                        <m:t>  </m:t>
                      </m:r>
                      <m:sSub>
                        <m:sSubPr>
                          <m:ctrlPr>
                            <a:rPr lang="ar-AE" sz="1600" b="0" i="1"/>
                          </m:ctrlPr>
                        </m:sSubPr>
                        <m:e>
                          <m:r>
                            <a:rPr lang="ar-AE" sz="1600" b="0" i="1"/>
                            <m:t>𝑥</m:t>
                          </m:r>
                        </m:e>
                        <m:sub>
                          <m:r>
                            <a:rPr lang="ar-AE" sz="1600" b="0" i="0"/>
                            <m:t>2</m:t>
                          </m:r>
                        </m:sub>
                      </m:sSub>
                      <m:r>
                        <a:rPr lang="ar-AE" sz="1600" b="0" i="0"/>
                        <m:t>≈0.013</m:t>
                      </m:r>
                    </m:oMath>
                  </m:oMathPara>
                </a14:m>
                <a:endParaRPr lang="ar-AE" sz="1600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z="1600" i="1"/>
                        <m:t>𝛿</m:t>
                      </m:r>
                      <m:r>
                        <a:rPr lang="ar-AE" sz="1600" i="0"/>
                        <m:t>=</m:t>
                      </m:r>
                      <m:func>
                        <m:funcPr>
                          <m:ctrlPr>
                            <a:rPr lang="ar-AE" sz="1600" i="1"/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600" i="0"/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ar-AE" sz="1600" i="1"/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ar-AE" sz="1600" i="1"/>
                                  </m:ctrlPr>
                                </m:fPr>
                                <m:num>
                                  <m:r>
                                    <a:rPr lang="ar-AE" sz="1600" i="0"/>
                                    <m:t>0.016</m:t>
                                  </m:r>
                                </m:num>
                                <m:den>
                                  <m:r>
                                    <a:rPr lang="ar-AE" sz="1600" i="0"/>
                                    <m:t>0.013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a:rPr lang="ar-AE" sz="1600" i="0"/>
                        <m:t>≈0.21</m:t>
                      </m:r>
                    </m:oMath>
                  </m:oMathPara>
                </a14:m>
                <a:endParaRPr lang="en-US" sz="1600" dirty="0"/>
              </a:p>
              <a:p>
                <a:pPr>
                  <a:buNone/>
                </a:pPr>
                <a:endParaRPr lang="en-US" sz="1600" dirty="0"/>
              </a:p>
              <a:p>
                <a:pPr>
                  <a:buNone/>
                </a:pPr>
                <a:r>
                  <a:rPr lang="ar-AE" sz="1600" b="1" dirty="0"/>
                  <a:t> </a:t>
                </a:r>
                <a:r>
                  <a:rPr lang="en-US" sz="1600" b="1" dirty="0"/>
                  <a:t>Damping ratio</a:t>
                </a:r>
                <a:endParaRPr lang="en-US" sz="1600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/>
                        <m:t>𝜁</m:t>
                      </m:r>
                      <m:r>
                        <a:rPr lang="en-US" sz="1600" i="0"/>
                        <m:t>≈</m:t>
                      </m:r>
                      <m:f>
                        <m:fPr>
                          <m:ctrlPr>
                            <a:rPr lang="ar-AE" sz="1600" i="1"/>
                          </m:ctrlPr>
                        </m:fPr>
                        <m:num>
                          <m:r>
                            <a:rPr lang="ar-AE" sz="1600" i="1"/>
                            <m:t>𝛿</m:t>
                          </m:r>
                        </m:num>
                        <m:den>
                          <m:r>
                            <a:rPr lang="ar-AE" sz="1600" i="0"/>
                            <m:t>2</m:t>
                          </m:r>
                          <m:r>
                            <a:rPr lang="ar-AE" sz="1600" i="1"/>
                            <m:t>𝜋</m:t>
                          </m:r>
                        </m:den>
                      </m:f>
                      <m:r>
                        <a:rPr lang="ar-AE" sz="1600" i="0"/>
                        <m:t>=</m:t>
                      </m:r>
                      <m:f>
                        <m:fPr>
                          <m:ctrlPr>
                            <a:rPr lang="ar-AE" sz="1600" i="1"/>
                          </m:ctrlPr>
                        </m:fPr>
                        <m:num>
                          <m:r>
                            <a:rPr lang="ar-AE" sz="1600" i="0"/>
                            <m:t>0.21</m:t>
                          </m:r>
                        </m:num>
                        <m:den>
                          <m:r>
                            <a:rPr lang="ar-AE" sz="1600" i="0"/>
                            <m:t>6.283</m:t>
                          </m:r>
                        </m:den>
                      </m:f>
                      <m:r>
                        <a:rPr lang="ar-AE" sz="1600" i="0"/>
                        <m:t>≈0.033</m:t>
                      </m:r>
                    </m:oMath>
                  </m:oMathPara>
                </a14:m>
                <a:endParaRPr lang="ar-AE" sz="1600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C6961AD-1F90-4ED1-9DC5-395B8710E2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971" y="1314300"/>
                <a:ext cx="6098058" cy="5069786"/>
              </a:xfrm>
              <a:prstGeom prst="rect">
                <a:avLst/>
              </a:prstGeom>
              <a:blipFill>
                <a:blip r:embed="rId3"/>
                <a:stretch>
                  <a:fillRect l="-415" t="-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219340F9-81CE-C94A-7CAE-14506E301CC8}"/>
              </a:ext>
            </a:extLst>
          </p:cNvPr>
          <p:cNvSpPr txBox="1"/>
          <p:nvPr/>
        </p:nvSpPr>
        <p:spPr>
          <a:xfrm>
            <a:off x="6096000" y="1175748"/>
            <a:ext cx="5266552" cy="283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-US" sz="1600" b="0" dirty="0">
                <a:effectLst/>
              </a:rPr>
              <a:t>m = 1.0 kg, c = 0.8 N.s/m,</a:t>
            </a:r>
            <a:r>
              <a:rPr lang="en-US" sz="1600" dirty="0"/>
              <a:t> </a:t>
            </a:r>
            <a:r>
              <a:rPr lang="en-US" sz="1600" b="0" dirty="0">
                <a:effectLst/>
              </a:rPr>
              <a:t>k = 100 N/m</a:t>
            </a:r>
          </a:p>
        </p:txBody>
      </p:sp>
    </p:spTree>
    <p:extLst>
      <p:ext uri="{BB962C8B-B14F-4D97-AF65-F5344CB8AC3E}">
        <p14:creationId xmlns:p14="http://schemas.microsoft.com/office/powerpoint/2010/main" val="3442630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A4E1F-A6AA-00E5-575F-D0439EE0DD3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201613"/>
            <a:ext cx="10515600" cy="755650"/>
          </a:xfrm>
        </p:spPr>
        <p:txBody>
          <a:bodyPr/>
          <a:lstStyle/>
          <a:p>
            <a:r>
              <a:rPr lang="en-US" dirty="0"/>
              <a:t>Vibration response of a 5-span bridge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01520C2-AB00-8DE0-5BD4-1E10047D1087}"/>
              </a:ext>
            </a:extLst>
          </p:cNvPr>
          <p:cNvGrpSpPr/>
          <p:nvPr/>
        </p:nvGrpSpPr>
        <p:grpSpPr>
          <a:xfrm>
            <a:off x="2426749" y="957263"/>
            <a:ext cx="7483924" cy="2597999"/>
            <a:chOff x="2932227" y="2086185"/>
            <a:chExt cx="7569518" cy="2597999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C1E36AE7-3A56-4466-699A-A08D3871BFAC}"/>
                </a:ext>
              </a:extLst>
            </p:cNvPr>
            <p:cNvPicPr/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4036"/>
            <a:stretch/>
          </p:blipFill>
          <p:spPr bwMode="auto">
            <a:xfrm>
              <a:off x="2932227" y="2086185"/>
              <a:ext cx="7569518" cy="25979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C7A7780C-7771-E289-670B-388FFFCBEC58}"/>
                </a:ext>
              </a:extLst>
            </p:cNvPr>
            <p:cNvSpPr/>
            <p:nvPr/>
          </p:nvSpPr>
          <p:spPr>
            <a:xfrm>
              <a:off x="5064326" y="2458796"/>
              <a:ext cx="567055" cy="1342390"/>
            </a:xfrm>
            <a:prstGeom prst="ellipse">
              <a:avLst/>
            </a:prstGeom>
            <a:noFill/>
            <a:ln w="19050">
              <a:solidFill>
                <a:srgbClr val="74264D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CA" dirty="0"/>
            </a:p>
          </p:txBody>
        </p:sp>
      </p:grpSp>
      <p:pic>
        <p:nvPicPr>
          <p:cNvPr id="6" name="Picture 5" descr="A picture containing outdoor, large, water, boat&#10;&#10;Description automatically generated">
            <a:extLst>
              <a:ext uri="{FF2B5EF4-FFF2-40B4-BE49-F238E27FC236}">
                <a16:creationId xmlns:a16="http://schemas.microsoft.com/office/drawing/2014/main" id="{19DC50AE-495B-90E3-1592-C4A79ADCDA36}"/>
              </a:ext>
            </a:extLst>
          </p:cNvPr>
          <p:cNvPicPr/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57"/>
          <a:stretch/>
        </p:blipFill>
        <p:spPr bwMode="auto">
          <a:xfrm rot="5400000">
            <a:off x="1118721" y="3663117"/>
            <a:ext cx="2445530" cy="197170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7" name="Picture 6" descr="A picture containing building, sitting, bridge, train&#10;&#10;Description automatically generated">
            <a:extLst>
              <a:ext uri="{FF2B5EF4-FFF2-40B4-BE49-F238E27FC236}">
                <a16:creationId xmlns:a16="http://schemas.microsoft.com/office/drawing/2014/main" id="{ACB3A06F-B02E-0B26-0A5F-913D2A500A2F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3611300" y="3691607"/>
            <a:ext cx="2445531" cy="1861129"/>
          </a:xfrm>
          <a:prstGeom prst="rect">
            <a:avLst/>
          </a:prstGeom>
        </p:spPr>
      </p:pic>
      <p:pic>
        <p:nvPicPr>
          <p:cNvPr id="8" name="Picture 7" descr="The side of a building&#10;&#10;Description automatically generated">
            <a:extLst>
              <a:ext uri="{FF2B5EF4-FFF2-40B4-BE49-F238E27FC236}">
                <a16:creationId xmlns:a16="http://schemas.microsoft.com/office/drawing/2014/main" id="{8B3C559B-9917-8633-E99A-CC9EEC3963C2}"/>
              </a:ext>
            </a:extLst>
          </p:cNvPr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6099459" y="3625789"/>
            <a:ext cx="2445506" cy="1992740"/>
          </a:xfrm>
          <a:prstGeom prst="rect">
            <a:avLst/>
          </a:prstGeom>
        </p:spPr>
      </p:pic>
      <p:pic>
        <p:nvPicPr>
          <p:cNvPr id="9" name="Picture 8" descr="A picture containing grass, outdoor, green, field&#10;&#10;Description automatically generated">
            <a:extLst>
              <a:ext uri="{FF2B5EF4-FFF2-40B4-BE49-F238E27FC236}">
                <a16:creationId xmlns:a16="http://schemas.microsoft.com/office/drawing/2014/main" id="{0B9FDD7C-CB15-284E-B4F6-9C2D3F5A029E}"/>
              </a:ext>
            </a:extLst>
          </p:cNvPr>
          <p:cNvPicPr/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8627761" y="3582775"/>
            <a:ext cx="2445505" cy="197170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6EA79FA-5011-28D2-E908-5FF54A08CFDF}"/>
              </a:ext>
            </a:extLst>
          </p:cNvPr>
          <p:cNvSpPr txBox="1"/>
          <p:nvPr/>
        </p:nvSpPr>
        <p:spPr>
          <a:xfrm>
            <a:off x="1355634" y="5906325"/>
            <a:ext cx="111334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Morris bridge, 5-span, 300 meter long bridge located  in Morris city, Manitoba, Canada,  2019-2021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49E8827-CA4E-7A01-EE10-36A84A419754}"/>
              </a:ext>
            </a:extLst>
          </p:cNvPr>
          <p:cNvSpPr txBox="1"/>
          <p:nvPr/>
        </p:nvSpPr>
        <p:spPr>
          <a:xfrm>
            <a:off x="291132" y="6517887"/>
            <a:ext cx="1113343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Ghorbani, Esmaeil, et al. "Bridge pier scour level quantification based on output-only Kalman filtering." </a:t>
            </a:r>
            <a:r>
              <a:rPr lang="en-US" sz="12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Structural Health Monitoring</a:t>
            </a:r>
            <a:r>
              <a:rPr lang="en-US" sz="1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21.5 (2022): 2116-2135.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1435370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57D963B5-69C6-F286-2A72-2E9B2E57257A}"/>
              </a:ext>
            </a:extLst>
          </p:cNvPr>
          <p:cNvGrpSpPr/>
          <p:nvPr/>
        </p:nvGrpSpPr>
        <p:grpSpPr>
          <a:xfrm>
            <a:off x="1505594" y="1644767"/>
            <a:ext cx="9414538" cy="2362991"/>
            <a:chOff x="2747494" y="2090592"/>
            <a:chExt cx="8310750" cy="1908753"/>
          </a:xfrm>
        </p:grpSpPr>
        <p:pic>
          <p:nvPicPr>
            <p:cNvPr id="5" name="Picture 4" descr="Chart, box and whisker chart&#10;&#10;Description automatically generated">
              <a:extLst>
                <a:ext uri="{FF2B5EF4-FFF2-40B4-BE49-F238E27FC236}">
                  <a16:creationId xmlns:a16="http://schemas.microsoft.com/office/drawing/2014/main" id="{9B5DEE5A-8495-5B26-DF8A-A7825DABF615}"/>
                </a:ext>
              </a:extLst>
            </p:cNvPr>
            <p:cNvPicPr/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16" t="3363" r="7051"/>
            <a:stretch/>
          </p:blipFill>
          <p:spPr bwMode="auto">
            <a:xfrm>
              <a:off x="2747494" y="2090592"/>
              <a:ext cx="3946381" cy="1908753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pic>
          <p:nvPicPr>
            <p:cNvPr id="6" name="Picture 5" descr="Chart&#10;&#10;Description automatically generated">
              <a:extLst>
                <a:ext uri="{FF2B5EF4-FFF2-40B4-BE49-F238E27FC236}">
                  <a16:creationId xmlns:a16="http://schemas.microsoft.com/office/drawing/2014/main" id="{EBCB2A9F-538D-7803-CE1C-1440AB779D8E}"/>
                </a:ext>
              </a:extLst>
            </p:cNvPr>
            <p:cNvPicPr/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60" t="3085" r="6128"/>
            <a:stretch/>
          </p:blipFill>
          <p:spPr bwMode="auto">
            <a:xfrm>
              <a:off x="7201525" y="2090592"/>
              <a:ext cx="3856719" cy="1908753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B9503401-00D8-062C-112E-B32BFF53DA6A}"/>
              </a:ext>
            </a:extLst>
          </p:cNvPr>
          <p:cNvGrpSpPr/>
          <p:nvPr/>
        </p:nvGrpSpPr>
        <p:grpSpPr>
          <a:xfrm>
            <a:off x="1271868" y="4007758"/>
            <a:ext cx="9648264" cy="2648341"/>
            <a:chOff x="2737050" y="4651180"/>
            <a:chExt cx="8484878" cy="1969869"/>
          </a:xfrm>
        </p:grpSpPr>
        <p:pic>
          <p:nvPicPr>
            <p:cNvPr id="8" name="Picture 7" descr="A picture containing chart&#10;&#10;Description automatically generated">
              <a:extLst>
                <a:ext uri="{FF2B5EF4-FFF2-40B4-BE49-F238E27FC236}">
                  <a16:creationId xmlns:a16="http://schemas.microsoft.com/office/drawing/2014/main" id="{A8675694-B968-6293-E479-A0D9CA350734}"/>
                </a:ext>
              </a:extLst>
            </p:cNvPr>
            <p:cNvPicPr/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43" r="7433"/>
            <a:stretch/>
          </p:blipFill>
          <p:spPr bwMode="auto">
            <a:xfrm>
              <a:off x="2737050" y="4651180"/>
              <a:ext cx="4122911" cy="1908752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pic>
          <p:nvPicPr>
            <p:cNvPr id="9" name="Picture 8" descr="A picture containing graphical user interface&#10;&#10;Description automatically generated">
              <a:extLst>
                <a:ext uri="{FF2B5EF4-FFF2-40B4-BE49-F238E27FC236}">
                  <a16:creationId xmlns:a16="http://schemas.microsoft.com/office/drawing/2014/main" id="{9C732047-72DF-E681-0380-9E5322DD7267}"/>
                </a:ext>
              </a:extLst>
            </p:cNvPr>
            <p:cNvPicPr/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651" r="5584"/>
            <a:stretch/>
          </p:blipFill>
          <p:spPr bwMode="auto">
            <a:xfrm>
              <a:off x="7527435" y="4651180"/>
              <a:ext cx="3694493" cy="1969869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456A4D25-20AE-B91F-EA89-D46BF3408F63}"/>
              </a:ext>
            </a:extLst>
          </p:cNvPr>
          <p:cNvSpPr txBox="1"/>
          <p:nvPr/>
        </p:nvSpPr>
        <p:spPr>
          <a:xfrm rot="16200000">
            <a:off x="-188682" y="2292455"/>
            <a:ext cx="20205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Raw vibration data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5C441A9-6256-11AD-7F84-953D8A2762EF}"/>
              </a:ext>
            </a:extLst>
          </p:cNvPr>
          <p:cNvSpPr txBox="1"/>
          <p:nvPr/>
        </p:nvSpPr>
        <p:spPr>
          <a:xfrm rot="16200000">
            <a:off x="-429902" y="4833369"/>
            <a:ext cx="25029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Free vibration response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49CCEB89-5DB4-63F7-B1D9-20DB2D7DF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127" y="201901"/>
            <a:ext cx="10515600" cy="755506"/>
          </a:xfrm>
        </p:spPr>
        <p:txBody>
          <a:bodyPr/>
          <a:lstStyle/>
          <a:p>
            <a:r>
              <a:rPr lang="en-US" dirty="0"/>
              <a:t>Vibration response of a 5-span bridge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AFA7707-6B00-4DE3-F53A-84CB8493DB53}"/>
              </a:ext>
            </a:extLst>
          </p:cNvPr>
          <p:cNvSpPr txBox="1"/>
          <p:nvPr/>
        </p:nvSpPr>
        <p:spPr>
          <a:xfrm>
            <a:off x="608664" y="995249"/>
            <a:ext cx="112291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There are many frequency involved in the response. It is not a simple solo-frequency free vibration response.</a:t>
            </a:r>
          </a:p>
        </p:txBody>
      </p:sp>
    </p:spTree>
    <p:extLst>
      <p:ext uri="{BB962C8B-B14F-4D97-AF65-F5344CB8AC3E}">
        <p14:creationId xmlns:p14="http://schemas.microsoft.com/office/powerpoint/2010/main" val="18309710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4C918-CF89-E05C-3542-C7EE4E21E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Eigenvalue Problem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C7B6B05-C7A1-9972-42BA-23D1B8B57440}"/>
                  </a:ext>
                </a:extLst>
              </p:cNvPr>
              <p:cNvSpPr txBox="1"/>
              <p:nvPr/>
            </p:nvSpPr>
            <p:spPr>
              <a:xfrm>
                <a:off x="464127" y="1234296"/>
                <a:ext cx="11077084" cy="20313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 dirty="0"/>
                  <a:t>For a linear transformation, </a:t>
                </a:r>
                <a:r>
                  <a:rPr lang="en-US" dirty="0"/>
                  <a:t>Most vectors </a:t>
                </a:r>
                <a:r>
                  <a:rPr lang="en-US" b="1" dirty="0"/>
                  <a:t>change direction and magnitude</a:t>
                </a:r>
                <a:r>
                  <a:rPr lang="en-US" dirty="0"/>
                  <a:t> after multiplication by matrix </a:t>
                </a:r>
                <a14:m>
                  <m:oMath xmlns:m="http://schemas.openxmlformats.org/officeDocument/2006/math">
                    <m:r>
                      <a:rPr lang="en-US" i="1"/>
                      <m:t>𝐴</m:t>
                    </m:r>
                  </m:oMath>
                </a14:m>
                <a:r>
                  <a:rPr lang="en-US" dirty="0"/>
                  <a:t>.</a:t>
                </a:r>
              </a:p>
              <a:p>
                <a:pPr>
                  <a:buNone/>
                </a:pPr>
                <a:endParaRPr lang="en-US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/>
                        <m:t>𝐴</m:t>
                      </m:r>
                      <m:r>
                        <a:rPr lang="en-US" b="1" i="0"/>
                        <m:t>𝐱</m:t>
                      </m:r>
                      <m:r>
                        <a:rPr lang="en-US" b="0" i="0"/>
                        <m:t>=</m:t>
                      </m:r>
                      <m:r>
                        <a:rPr lang="en-US" b="1" i="0"/>
                        <m:t>𝐲</m:t>
                      </m:r>
                    </m:oMath>
                  </m:oMathPara>
                </a14:m>
                <a:endParaRPr lang="en-US" b="1" dirty="0"/>
              </a:p>
              <a:p>
                <a:pPr>
                  <a:buNone/>
                </a:pPr>
                <a:r>
                  <a:rPr lang="en-US" dirty="0"/>
                  <a:t>But </a:t>
                </a:r>
                <a:r>
                  <a:rPr lang="en-US" b="1" dirty="0"/>
                  <a:t>some special vectors only scale</a:t>
                </a:r>
                <a:r>
                  <a:rPr lang="en-US" dirty="0"/>
                  <a:t>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/>
                        <m:t>𝐴</m:t>
                      </m:r>
                      <m:r>
                        <a:rPr lang="en-US" b="1" i="0"/>
                        <m:t>𝐱</m:t>
                      </m:r>
                      <m:r>
                        <a:rPr lang="en-US" b="0" i="0"/>
                        <m:t>=</m:t>
                      </m:r>
                      <m:r>
                        <a:rPr lang="en-US" b="0" i="1"/>
                        <m:t>𝜆</m:t>
                      </m:r>
                      <m:r>
                        <a:rPr lang="en-US" b="1" i="0"/>
                        <m:t>𝐱</m:t>
                      </m:r>
                    </m:oMath>
                  </m:oMathPara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1"/>
                      <m:t>𝐱</m:t>
                    </m:r>
                  </m:oMath>
                </a14:m>
                <a:r>
                  <a:rPr lang="en-US" dirty="0"/>
                  <a:t>→ </a:t>
                </a:r>
                <a:r>
                  <a:rPr lang="en-US" b="1" dirty="0"/>
                  <a:t>eigenvector</a:t>
                </a:r>
                <a:r>
                  <a:rPr lang="en-US" dirty="0"/>
                  <a:t> (direction unchanged)</a:t>
                </a:r>
              </a:p>
              <a:p>
                <a14:m>
                  <m:oMath xmlns:m="http://schemas.openxmlformats.org/officeDocument/2006/math">
                    <m:r>
                      <a:rPr lang="en-US" i="1"/>
                      <m:t>𝜆</m:t>
                    </m:r>
                  </m:oMath>
                </a14:m>
                <a:r>
                  <a:rPr lang="en-US" dirty="0"/>
                  <a:t>→ </a:t>
                </a:r>
                <a:r>
                  <a:rPr lang="en-US" b="1" dirty="0"/>
                  <a:t>eigenvalue</a:t>
                </a:r>
                <a:r>
                  <a:rPr lang="en-US" dirty="0"/>
                  <a:t> (scaling factor)</a:t>
                </a: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C7B6B05-C7A1-9972-42BA-23D1B8B574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127" y="1234296"/>
                <a:ext cx="11077084" cy="2031325"/>
              </a:xfrm>
              <a:prstGeom prst="rect">
                <a:avLst/>
              </a:prstGeom>
              <a:blipFill>
                <a:blip r:embed="rId2"/>
                <a:stretch>
                  <a:fillRect l="-458" t="-617" b="-37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838E5C5-FA19-26A5-8FBF-4687434C1EEF}"/>
                  </a:ext>
                </a:extLst>
              </p:cNvPr>
              <p:cNvSpPr txBox="1"/>
              <p:nvPr/>
            </p:nvSpPr>
            <p:spPr>
              <a:xfrm>
                <a:off x="464125" y="3429000"/>
                <a:ext cx="1123772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dirty="0"/>
                  <a:t>To solve the eigenvalue problem: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b="0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ar-AE" b="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b="0" i="1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ar-AE" b="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</m:d>
                    <m:r>
                      <m:rPr>
                        <m:sty m:val="p"/>
                      </m:rPr>
                      <a:rPr lang="ar-AE" b="0" i="0">
                        <a:latin typeface="Cambria Math" panose="02040503050406030204" pitchFamily="18" charset="0"/>
                      </a:rPr>
                      <m:t>x</m:t>
                    </m:r>
                    <m:r>
                      <a:rPr lang="ar-AE" b="0" i="0">
                        <a:latin typeface="Cambria Math" panose="02040503050406030204" pitchFamily="18" charset="0"/>
                      </a:rPr>
                      <m:t>=0, 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 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and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  </m:t>
                    </m:r>
                    <m:r>
                      <m:rPr>
                        <m:sty m:val="p"/>
                      </m:rPr>
                      <a:rPr lang="en-US" b="0">
                        <a:latin typeface="Cambria Math" panose="02040503050406030204" pitchFamily="18" charset="0"/>
                      </a:rPr>
                      <m:t>det</m:t>
                    </m:r>
                    <m:r>
                      <a:rPr lang="en-US" b="0" i="0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b="0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ar-AE" b="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b="0" i="1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ar-AE" b="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</m:d>
                    <m:r>
                      <a:rPr lang="ar-AE" b="0" i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      is the characteristic equation.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838E5C5-FA19-26A5-8FBF-4687434C1E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125" y="3429000"/>
                <a:ext cx="11237723" cy="369332"/>
              </a:xfrm>
              <a:prstGeom prst="rect">
                <a:avLst/>
              </a:prstGeom>
              <a:blipFill>
                <a:blip r:embed="rId3"/>
                <a:stretch>
                  <a:fillRect l="-451" t="-10000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CCB780CC-007D-1E76-4802-3042F079156D}"/>
              </a:ext>
            </a:extLst>
          </p:cNvPr>
          <p:cNvSpPr txBox="1"/>
          <p:nvPr/>
        </p:nvSpPr>
        <p:spPr>
          <a:xfrm>
            <a:off x="464125" y="4500591"/>
            <a:ext cx="563187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Eigenvalues determine fundamental system properties: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Vibration:</a:t>
            </a:r>
            <a:r>
              <a:rPr lang="en-US" dirty="0"/>
              <a:t> natural frequencies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Dynamics:</a:t>
            </a:r>
            <a:r>
              <a:rPr lang="en-US" dirty="0"/>
              <a:t> stability of systems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Control systems:</a:t>
            </a:r>
            <a:r>
              <a:rPr lang="en-US" dirty="0"/>
              <a:t> poles of the system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PDEs:</a:t>
            </a:r>
            <a:r>
              <a:rPr lang="en-US" dirty="0"/>
              <a:t> modal decomposition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5EB1A0D-E84B-5137-0D2A-B392C790AC03}"/>
                  </a:ext>
                </a:extLst>
              </p:cNvPr>
              <p:cNvSpPr txBox="1"/>
              <p:nvPr/>
            </p:nvSpPr>
            <p:spPr>
              <a:xfrm>
                <a:off x="6930365" y="4691093"/>
                <a:ext cx="4797510" cy="1477328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dirty="0"/>
                  <a:t>Example: 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𝑀</m:t>
                    </m:r>
                    <m:acc>
                      <m:accPr>
                        <m:chr m:val="̈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ar-AE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𝐾𝑥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dirty="0"/>
              </a:p>
              <a:p>
                <a:pPr>
                  <a:buNone/>
                </a:pPr>
                <a:endParaRPr lang="ar-AE" dirty="0"/>
              </a:p>
              <a:p>
                <a:pPr>
                  <a:buNone/>
                </a:pPr>
                <a:r>
                  <a:rPr lang="en-US" dirty="0"/>
                  <a:t>leads to.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ar-AE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M</m:t>
                        </m:r>
                        <m:r>
                          <a:rPr lang="en-US" b="0" i="1" baseline="30000" smtClean="0">
                            <a:latin typeface="Cambria Math" panose="02040503050406030204" pitchFamily="18" charset="0"/>
                          </a:rPr>
                          <m:t>-1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ar-AE" i="0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p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ar-AE" i="1">
                        <a:latin typeface="Cambria Math" panose="02040503050406030204" pitchFamily="18" charset="0"/>
                      </a:rPr>
                      <m:t>𝜙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dirty="0"/>
              </a:p>
              <a:p>
                <a:pPr>
                  <a:buNone/>
                </a:pPr>
                <a:endParaRPr lang="ar-AE" dirty="0"/>
              </a:p>
              <a:p>
                <a:pPr>
                  <a:buNone/>
                </a:pPr>
                <a:r>
                  <a:rPr lang="ar-AE" dirty="0"/>
                  <a:t>→</a:t>
                </a:r>
                <a:r>
                  <a:rPr lang="en-US" b="1" dirty="0"/>
                  <a:t>eigenvalue problem for natural frequencies</a:t>
                </a:r>
                <a:endParaRPr lang="en-US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5EB1A0D-E84B-5137-0D2A-B392C790AC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0365" y="4691093"/>
                <a:ext cx="4797510" cy="1477328"/>
              </a:xfrm>
              <a:prstGeom prst="rect">
                <a:avLst/>
              </a:prstGeom>
              <a:blipFill>
                <a:blip r:embed="rId4"/>
                <a:stretch>
                  <a:fillRect l="-1053" t="-1695" r="-526" b="-5085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1F6A402E-9159-CF06-911D-BEA2BBC3B8CB}"/>
              </a:ext>
            </a:extLst>
          </p:cNvPr>
          <p:cNvSpPr txBox="1"/>
          <p:nvPr/>
        </p:nvSpPr>
        <p:spPr>
          <a:xfrm>
            <a:off x="464125" y="3961711"/>
            <a:ext cx="93224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Eigenvalues tell us the </a:t>
            </a:r>
            <a:r>
              <a:rPr lang="en-US" b="1" dirty="0"/>
              <a:t>intrinsic behavior of a system</a:t>
            </a:r>
            <a:r>
              <a:rPr lang="en-US" dirty="0"/>
              <a:t>, independent of forcing.</a:t>
            </a:r>
          </a:p>
        </p:txBody>
      </p:sp>
    </p:spTree>
    <p:extLst>
      <p:ext uri="{BB962C8B-B14F-4D97-AF65-F5344CB8AC3E}">
        <p14:creationId xmlns:p14="http://schemas.microsoft.com/office/powerpoint/2010/main" val="13248298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4600</TotalTime>
  <Words>1364</Words>
  <Application>Microsoft Macintosh PowerPoint</Application>
  <PresentationFormat>Widescreen</PresentationFormat>
  <Paragraphs>226</Paragraphs>
  <Slides>21</Slides>
  <Notes>0</Notes>
  <HiddenSlides>0</HiddenSlides>
  <MMClips>1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21</vt:i4>
      </vt:variant>
    </vt:vector>
  </HeadingPairs>
  <TitlesOfParts>
    <vt:vector size="30" baseType="lpstr">
      <vt:lpstr>Aptos</vt:lpstr>
      <vt:lpstr>Aptos Display</vt:lpstr>
      <vt:lpstr>Arial</vt:lpstr>
      <vt:lpstr>Cambria Math</vt:lpstr>
      <vt:lpstr>Garamond</vt:lpstr>
      <vt:lpstr>Office Theme</vt:lpstr>
      <vt:lpstr>Custom Design</vt:lpstr>
      <vt:lpstr>Equation</vt:lpstr>
      <vt:lpstr>Microsoft Word Document</vt:lpstr>
      <vt:lpstr>       Vibration-based SHM</vt:lpstr>
      <vt:lpstr>Why do we need model-based SHM?</vt:lpstr>
      <vt:lpstr>Lets start with an example</vt:lpstr>
      <vt:lpstr>How can we define a model?</vt:lpstr>
      <vt:lpstr>How can we define a discrete model?</vt:lpstr>
      <vt:lpstr>one degree of freedom system</vt:lpstr>
      <vt:lpstr>10 story building at UCSD</vt:lpstr>
      <vt:lpstr>What about multi-DoF systems</vt:lpstr>
      <vt:lpstr>Governing equation for a 3-DoF system</vt:lpstr>
      <vt:lpstr>Simulation practice.</vt:lpstr>
      <vt:lpstr>What is correlation function?</vt:lpstr>
      <vt:lpstr>Random Decrement</vt:lpstr>
      <vt:lpstr>Random Decrement</vt:lpstr>
      <vt:lpstr>How to implement Random Decrement</vt:lpstr>
      <vt:lpstr>Relation between correlation and averaging segments</vt:lpstr>
      <vt:lpstr>PowerPoint Presentation</vt:lpstr>
      <vt:lpstr>How to use RD signatures?</vt:lpstr>
      <vt:lpstr>PowerPoint Presentation</vt:lpstr>
      <vt:lpstr>Vibration response of a 5-span bridge</vt:lpstr>
      <vt:lpstr>Vibration response of a 5-span bridge</vt:lpstr>
      <vt:lpstr>Eigenvalue Problem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Esmaeil Ghorbani</dc:creator>
  <cp:lastModifiedBy>Esmaeil Ghorbani</cp:lastModifiedBy>
  <cp:revision>16</cp:revision>
  <dcterms:created xsi:type="dcterms:W3CDTF">2026-03-06T23:33:30Z</dcterms:created>
  <dcterms:modified xsi:type="dcterms:W3CDTF">2026-03-10T04:14:13Z</dcterms:modified>
</cp:coreProperties>
</file>